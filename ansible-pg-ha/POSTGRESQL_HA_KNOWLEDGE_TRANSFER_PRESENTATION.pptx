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ansible-pg-ha/inventories/uat_hosts.ini</a:t>
            </a:r>
          </a:p>
          <a:p>
            <a:r>
              <a:t>- ansible-pg-ha/inventories/prod_hosts.ini</a:t>
            </a:r>
          </a:p>
          <a:p>
            <a:r>
              <a:t>- ansible-pg-ha/group_vars/uat.yml</a:t>
            </a:r>
          </a:p>
          <a:p>
            <a:r>
              <a:t>- ansible-pg-ha/group_vars/prod.yml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ansible-pg-ha/roles/keepalived_haproxy</a:t>
            </a:r>
          </a:p>
          <a:p>
            <a:r>
              <a:t>- ansible-pg-ha/roles/pgbouncer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ansible-pg-ha/SYSTEM_ARCHITECTURE_AND_RECOVERY.md</a:t>
            </a:r>
          </a:p>
          <a:p>
            <a:r>
              <a:t>- ansible-pg-ha/roles/pg_auto_failover</a:t>
            </a:r>
          </a:p>
          <a:p>
            <a:r>
              <a:t>- ansible-pg-ha/roles/keepalived_haproxy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ansible-pg-ha/CODEBASE_ARCHITECTURE.md</a:t>
            </a:r>
          </a:p>
          <a:p>
            <a:r>
              <a:t>- ansible-pg-ha/site.yml</a:t>
            </a:r>
          </a:p>
          <a:p>
            <a:r>
              <a:t>- ansible-pg-ha/roles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ansible-pg-ha/DEPLOYMENT_HOWTO.md</a:t>
            </a:r>
          </a:p>
          <a:p>
            <a:r>
              <a:t>- ansible-pg-ha/OPERATOR_RUNBOOK.md</a:t>
            </a:r>
          </a:p>
          <a:p>
            <a:r>
              <a:t>- ansible-pg-ha/site.yml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ansible-pg-ha/DEPLOYMENT_HOWTO.md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ansible-pg-ha/tests/README.md</a:t>
            </a:r>
          </a:p>
          <a:p>
            <a:r>
              <a:t>- ansible-pg-ha/CLIENT_DR_FAILOVER_TEST_RUNBOOK.md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ansible-pg-ha/tests/README.md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ansible-pg-ha/POSTGRESQL_HA_KNOWLEDGE_TRANSFER_GUIDE.docx</a:t>
            </a:r>
          </a:p>
          <a:p>
            <a:r>
              <a:t>- ansible-pg-ha/OPERATOR_RUNBOOK.md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ansible-pg-ha/OPERATOR_RUNBOOK.md</a:t>
            </a:r>
          </a:p>
          <a:p>
            <a:r>
              <a:t>- ansible-pg-ha/POSTGRESQL_HA_KNOWLEDGE_TRANSFER_GUIDE.docx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ansible-pg-ha/RUBRIK_WAL_CUTOVER_AND_DR_RUNBOOK.md</a:t>
            </a:r>
          </a:p>
          <a:p>
            <a:r>
              <a:t>- ansible-pg-ha/SYSTEM_ARCHITECTURE_AND_RECOVERY.md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ansible-pg-ha/POSTGRESQL_HA_KNOWLEDGE_TRANSFER_GUIDE.docx</a:t>
            </a:r>
          </a:p>
          <a:p>
            <a:r>
              <a:t>- ansible-pg-ha/SYSTEM_ARCHITECTURE_AND_RECOVERY.md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69D0B1-5FD7-464F-9A8D-DDC51B0F27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E3260A-B44F-4602-83BC-A38D2CCAE7B2}"/>
              </a:ext>
            </a:extLst>
          </p:cNvPr>
          <p:cNvSpPr>
            <a:spLocks noGrp="1"/>
          </p:cNvSpPr>
          <p:nvPr/>
        </p:nvSpPr>
        <p:spPr>
          <a:xfrm>
            <a:off x="838200" y="11049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CLIENT 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BF62C3-5A92-467D-8FB0-30CD0A03D032}"/>
              </a:ext>
            </a:extLst>
          </p:cNvPr>
          <p:cNvSpPr>
            <a:spLocks noGrp="1"/>
          </p:cNvSpPr>
          <p:nvPr/>
        </p:nvSpPr>
        <p:spPr>
          <a:xfrm>
            <a:off x="838200" y="1600200"/>
            <a:ext cx="7429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PostgreSQL 18</a:t>
            </a:r>
          </a:p>
          <a:p>
            <a:pPr algn="l"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High-Availability Platform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665E2-823A-441A-9909-331AC71B0F5B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E6B7A"/>
                </a:solidFill>
              </a:defRPr>
            </a:pPr>
            <a:r>
              <a:rPr sz="1800" b="0">
                <a:solidFill>
                  <a:srgbClr val="5E6B7A"/>
                </a:solidFill>
              </a:rPr>
              <a:t>Architecture, Ansible deployment, testing and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47479-2CCC-490F-AD9E-AE8E9A26A891}"/>
              </a:ext>
            </a:extLst>
          </p:cNvPr>
          <p:cNvSpPr>
            <a:spLocks noGrp="1"/>
          </p:cNvSpPr>
          <p:nvPr/>
        </p:nvSpPr>
        <p:spPr>
          <a:xfrm>
            <a:off x="857250" y="4124325"/>
            <a:ext cx="1714500" cy="4762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CE0C1-55D4-461C-B739-C33079532722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UAT and Production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9FE21-2624-46BB-89EA-60A63A0F1AF7}"/>
              </a:ext>
            </a:extLst>
          </p:cNvPr>
          <p:cNvSpPr>
            <a:spLocks noGrp="1"/>
          </p:cNvSpPr>
          <p:nvPr/>
        </p:nvSpPr>
        <p:spPr>
          <a:xfrm>
            <a:off x="857250" y="6029325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Bayshore PostgreSQL HA Project  |  24 August 2026</a:t>
            </a:r>
          </a:p>
        </p:txBody>
      </p:sp>
    </p:spTree>
    <p:extLst>
      <p:ext uri="{BB962C8B-B14F-4D97-AF65-F5344CB8AC3E}">
        <p14:creationId xmlns:p14="http://schemas.microsoft.com/office/powerpoint/2010/main" val="1244193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7AFAD74-CCA6-415E-AC57-374E4F890B8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91C062-EDD5-48E9-B798-DB5E3FCB0A0A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3B64-C464-4307-838D-6B1D6DB9BA93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8D127-FEA8-4C34-AFFB-A66379A18C6E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What this session enables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60ECC9-6ADD-4DE4-AAED-D74F176445A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By the end, the client team can explain, deploy, test and operate the platform safely.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C98509-7AD9-4EC9-9754-607113390F78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75B6"/>
                </a:solidFill>
              </a:defRPr>
            </a:pPr>
            <a:r>
              <a:rPr sz="1800" b="1">
                <a:solidFill>
                  <a:srgbClr val="2E75B6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7B1DC-F44F-4B9C-A9D1-1C685BFA1F47}"/>
              </a:ext>
            </a:extLst>
          </p:cNvPr>
          <p:cNvSpPr>
            <a:spLocks noGrp="1"/>
          </p:cNvSpPr>
          <p:nvPr/>
        </p:nvSpPr>
        <p:spPr>
          <a:xfrm>
            <a:off x="1466850" y="18669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Understand the 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DCB36-784F-49FB-BF76-D308A5E87073}"/>
              </a:ext>
            </a:extLst>
          </p:cNvPr>
          <p:cNvSpPr>
            <a:spLocks noGrp="1"/>
          </p:cNvSpPr>
          <p:nvPr/>
        </p:nvSpPr>
        <p:spPr>
          <a:xfrm>
            <a:off x="4762500" y="18859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Application path, database roles, routing failover and backup ownership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8E65E-FE0E-485A-AB16-85A5DF9376BC}"/>
              </a:ext>
            </a:extLst>
          </p:cNvPr>
          <p:cNvSpPr>
            <a:spLocks noGrp="1"/>
          </p:cNvSpPr>
          <p:nvPr/>
        </p:nvSpPr>
        <p:spPr>
          <a:xfrm>
            <a:off x="1466850" y="2390775"/>
            <a:ext cx="97726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992A0D-DE95-4F1A-B098-9916F5E70F10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75B6"/>
                </a:solidFill>
              </a:defRPr>
            </a:pPr>
            <a:r>
              <a:rPr sz="1800" b="1">
                <a:solidFill>
                  <a:srgbClr val="2E75B6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B41FCA-F0BB-4BF2-ABC3-057EC745AFF2}"/>
              </a:ext>
            </a:extLst>
          </p:cNvPr>
          <p:cNvSpPr>
            <a:spLocks noGrp="1"/>
          </p:cNvSpPr>
          <p:nvPr/>
        </p:nvSpPr>
        <p:spPr>
          <a:xfrm>
            <a:off x="1466850" y="27051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Navigate the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63CF4F-F2C1-4A31-A40C-B5E2FAD6F96A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Inventories, variables, playbooks, roles, Vault and execution order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3459E5-4885-44BD-8AE9-B119E7921025}"/>
              </a:ext>
            </a:extLst>
          </p:cNvPr>
          <p:cNvSpPr>
            <a:spLocks noGrp="1"/>
          </p:cNvSpPr>
          <p:nvPr/>
        </p:nvSpPr>
        <p:spPr>
          <a:xfrm>
            <a:off x="1466850" y="3228975"/>
            <a:ext cx="97726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B3C822-29C1-4985-B887-DEE5B63BA103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75B6"/>
                </a:solidFill>
              </a:defRPr>
            </a:pPr>
            <a:r>
              <a:rPr sz="1800" b="1">
                <a:solidFill>
                  <a:srgbClr val="2E75B6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1FBA2-A4A0-4624-B889-21B1F1448BE8}"/>
              </a:ext>
            </a:extLst>
          </p:cNvPr>
          <p:cNvSpPr>
            <a:spLocks noGrp="1"/>
          </p:cNvSpPr>
          <p:nvPr/>
        </p:nvSpPr>
        <p:spPr>
          <a:xfrm>
            <a:off x="1466850" y="35433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Run the deployment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EBA960-D8A4-4915-8F47-3F61F984A031}"/>
              </a:ext>
            </a:extLst>
          </p:cNvPr>
          <p:cNvSpPr>
            <a:spLocks noGrp="1"/>
          </p:cNvSpPr>
          <p:nvPr/>
        </p:nvSpPr>
        <p:spPr>
          <a:xfrm>
            <a:off x="4762500" y="35623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Bootstrap keys, validate inputs, deploy UAT or Production, and verify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C058B5-F914-4621-9046-5132BEB785B7}"/>
              </a:ext>
            </a:extLst>
          </p:cNvPr>
          <p:cNvSpPr>
            <a:spLocks noGrp="1"/>
          </p:cNvSpPr>
          <p:nvPr/>
        </p:nvSpPr>
        <p:spPr>
          <a:xfrm>
            <a:off x="1466850" y="4067175"/>
            <a:ext cx="97726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41346B-4697-4706-B91D-139F8B5343F7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75B6"/>
                </a:solidFill>
              </a:defRPr>
            </a:pPr>
            <a:r>
              <a:rPr sz="1800" b="1">
                <a:solidFill>
                  <a:srgbClr val="2E75B6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EA75A0-02E7-4191-9178-12B52ECFF64B}"/>
              </a:ext>
            </a:extLst>
          </p:cNvPr>
          <p:cNvSpPr>
            <a:spLocks noGrp="1"/>
          </p:cNvSpPr>
          <p:nvPr/>
        </p:nvSpPr>
        <p:spPr>
          <a:xfrm>
            <a:off x="1466850" y="43815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Prove availability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20D3DC-6CEB-408D-9EB7-D33760AAFF84}"/>
              </a:ext>
            </a:extLst>
          </p:cNvPr>
          <p:cNvSpPr>
            <a:spLocks noGrp="1"/>
          </p:cNvSpPr>
          <p:nvPr/>
        </p:nvSpPr>
        <p:spPr>
          <a:xfrm>
            <a:off x="4762500" y="44005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Read-only health checks plus approved routing and database failover tests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1B1323-5AC5-45AB-871E-D65868825776}"/>
              </a:ext>
            </a:extLst>
          </p:cNvPr>
          <p:cNvSpPr>
            <a:spLocks noGrp="1"/>
          </p:cNvSpPr>
          <p:nvPr/>
        </p:nvSpPr>
        <p:spPr>
          <a:xfrm>
            <a:off x="1466850" y="4905375"/>
            <a:ext cx="97726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BF1E42-913C-458E-A8DF-D294D479991E}"/>
              </a:ext>
            </a:extLst>
          </p:cNvPr>
          <p:cNvSpPr>
            <a:spLocks noGrp="1"/>
          </p:cNvSpPr>
          <p:nvPr/>
        </p:nvSpPr>
        <p:spPr>
          <a:xfrm>
            <a:off x="800100" y="52387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E75B6"/>
                </a:solidFill>
              </a:defRPr>
            </a:pPr>
            <a:r>
              <a:rPr sz="1800" b="1">
                <a:solidFill>
                  <a:srgbClr val="2E75B6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03FD07-423A-4AC9-8A40-5CA1D091A6C8}"/>
              </a:ext>
            </a:extLst>
          </p:cNvPr>
          <p:cNvSpPr>
            <a:spLocks noGrp="1"/>
          </p:cNvSpPr>
          <p:nvPr/>
        </p:nvSpPr>
        <p:spPr>
          <a:xfrm>
            <a:off x="1466850" y="5219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Operate day to day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76D306-7A7B-4784-B1B9-41B5D5CDF924}"/>
              </a:ext>
            </a:extLst>
          </p:cNvPr>
          <p:cNvSpPr>
            <a:spLocks noGrp="1"/>
          </p:cNvSpPr>
          <p:nvPr/>
        </p:nvSpPr>
        <p:spPr>
          <a:xfrm>
            <a:off x="4762500" y="523875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Use Ansible-server pg_autoctl, systemd, routing and monitoring commands</a:t>
            </a:r>
          </a:p>
        </p:txBody>
      </p:sp>
    </p:spTree>
    <p:extLst>
      <p:ext uri="{BB962C8B-B14F-4D97-AF65-F5344CB8AC3E}">
        <p14:creationId xmlns:p14="http://schemas.microsoft.com/office/powerpoint/2010/main" val="360347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97A1254-D931-4A30-96D1-68FED7E4167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47B1AE-39C6-4582-92F4-E462EC4906A5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CBA23-C8D1-4BC0-8AA5-2AA3109DF46C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16503-E822-470A-9B2C-9CF9201BF39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One design, two environment inventories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114F7-2887-40FC-ABF5-0813FAA25A41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The same playbooks deploy UAT and Production; inventory and group variables supply the differences.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4EFD52-668B-4C3F-AEB9-58D73F79CEEB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276850" cy="3790950"/>
          </a:xfrm>
          <a:prstGeom prst="roundRect">
            <a:avLst>
              <a:gd name="adj" fmla="val 301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605D6-043C-414E-8D54-1F2A18DD0ABE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UAT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79DAF-646B-4D25-9B56-C13B1B9E3A02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inventories/uat_hosts.ini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73EA6B-99DC-4FBE-ACCC-C6D186C16D06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Cluster subnet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636561-2B53-4D90-96D7-6932A1A72309}"/>
              </a:ext>
            </a:extLst>
          </p:cNvPr>
          <p:cNvSpPr>
            <a:spLocks noGrp="1"/>
          </p:cNvSpPr>
          <p:nvPr/>
        </p:nvSpPr>
        <p:spPr>
          <a:xfrm>
            <a:off x="2876550" y="3086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192.168.129.0/24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CCCEA-48A0-413E-80F6-DD1B15AE9AE5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Database VIP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EE7A13-C3F8-49A5-9542-1ABC70D12934}"/>
              </a:ext>
            </a:extLst>
          </p:cNvPr>
          <p:cNvSpPr>
            <a:spLocks noGrp="1"/>
          </p:cNvSpPr>
          <p:nvPr/>
        </p:nvSpPr>
        <p:spPr>
          <a:xfrm>
            <a:off x="2876550" y="35623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192.168.129.110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023D9C-90F2-4408-80C1-3CF1EA75483B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Application clients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D46684-85F9-4B25-91C9-B95C5C9BE6CF}"/>
              </a:ext>
            </a:extLst>
          </p:cNvPr>
          <p:cNvSpPr>
            <a:spLocks noGrp="1"/>
          </p:cNvSpPr>
          <p:nvPr/>
        </p:nvSpPr>
        <p:spPr>
          <a:xfrm>
            <a:off x="2876550" y="40386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192.168.24.0/24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4584A-611D-4416-9EAC-AEB40DE05F51}"/>
              </a:ext>
            </a:extLst>
          </p:cNvPr>
          <p:cNvSpPr>
            <a:spLocks noGrp="1"/>
          </p:cNvSpPr>
          <p:nvPr/>
        </p:nvSpPr>
        <p:spPr>
          <a:xfrm>
            <a:off x="952500" y="45148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Managed nodes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DBF759-18CA-49B6-AAFE-D15ED9BF95C2}"/>
              </a:ext>
            </a:extLst>
          </p:cNvPr>
          <p:cNvSpPr>
            <a:spLocks noGrp="1"/>
          </p:cNvSpPr>
          <p:nvPr/>
        </p:nvSpPr>
        <p:spPr>
          <a:xfrm>
            <a:off x="2876550" y="45148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U05 / U06 / U07  •  U03 / U04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0BE6E3-2EB3-48C3-9150-44CEB1019BD5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Backup owner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220A8-15BC-4BEB-8FA1-5E90B7CD6EE2}"/>
              </a:ext>
            </a:extLst>
          </p:cNvPr>
          <p:cNvSpPr>
            <a:spLocks noGrp="1"/>
          </p:cNvSpPr>
          <p:nvPr/>
        </p:nvSpPr>
        <p:spPr>
          <a:xfrm>
            <a:off x="2876550" y="4991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Rubrik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660871-1A2B-4A70-B766-C026C2B7DDA3}"/>
              </a:ext>
            </a:extLst>
          </p:cNvPr>
          <p:cNvSpPr>
            <a:spLocks noGrp="1"/>
          </p:cNvSpPr>
          <p:nvPr/>
        </p:nvSpPr>
        <p:spPr>
          <a:xfrm>
            <a:off x="6229350" y="1943100"/>
            <a:ext cx="5276850" cy="3790950"/>
          </a:xfrm>
          <a:prstGeom prst="roundRect">
            <a:avLst>
              <a:gd name="adj" fmla="val 301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C4233-BA91-40AB-88D4-44D64AD5BB8E}"/>
              </a:ext>
            </a:extLst>
          </p:cNvPr>
          <p:cNvSpPr>
            <a:spLocks noGrp="1"/>
          </p:cNvSpPr>
          <p:nvPr/>
        </p:nvSpPr>
        <p:spPr>
          <a:xfrm>
            <a:off x="6496050" y="2171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PRODUCTION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DE58-9220-4D68-87AF-4E8227ED692B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inventories/prod_hosts.ini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6B56CF-3CE9-4CB5-AD85-C7CD8F627CBE}"/>
              </a:ext>
            </a:extLst>
          </p:cNvPr>
          <p:cNvSpPr>
            <a:spLocks noGrp="1"/>
          </p:cNvSpPr>
          <p:nvPr/>
        </p:nvSpPr>
        <p:spPr>
          <a:xfrm>
            <a:off x="6496050" y="30861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Cluster subnet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AD5790-F950-446A-AD34-7B64A099FD0E}"/>
              </a:ext>
            </a:extLst>
          </p:cNvPr>
          <p:cNvSpPr>
            <a:spLocks noGrp="1"/>
          </p:cNvSpPr>
          <p:nvPr/>
        </p:nvSpPr>
        <p:spPr>
          <a:xfrm>
            <a:off x="8420100" y="3086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192.168.128.0/24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44BFFC-C220-49D0-8CC9-AC633546E82C}"/>
              </a:ext>
            </a:extLst>
          </p:cNvPr>
          <p:cNvSpPr>
            <a:spLocks noGrp="1"/>
          </p:cNvSpPr>
          <p:nvPr/>
        </p:nvSpPr>
        <p:spPr>
          <a:xfrm>
            <a:off x="6496050" y="35623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Database VIP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F626CA-1EE3-4B52-A7B5-B47939CD37EE}"/>
              </a:ext>
            </a:extLst>
          </p:cNvPr>
          <p:cNvSpPr>
            <a:spLocks noGrp="1"/>
          </p:cNvSpPr>
          <p:nvPr/>
        </p:nvSpPr>
        <p:spPr>
          <a:xfrm>
            <a:off x="8420100" y="35623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192.168.128.139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87B117-CBE6-4A5C-841B-BDE90DFD1114}"/>
              </a:ext>
            </a:extLst>
          </p:cNvPr>
          <p:cNvSpPr>
            <a:spLocks noGrp="1"/>
          </p:cNvSpPr>
          <p:nvPr/>
        </p:nvSpPr>
        <p:spPr>
          <a:xfrm>
            <a:off x="6496050" y="4038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Application clients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0E36D4-9355-48DB-95F6-D23D32395A09}"/>
              </a:ext>
            </a:extLst>
          </p:cNvPr>
          <p:cNvSpPr>
            <a:spLocks noGrp="1"/>
          </p:cNvSpPr>
          <p:nvPr/>
        </p:nvSpPr>
        <p:spPr>
          <a:xfrm>
            <a:off x="8420100" y="40386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192.168.4.0/24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417C03-9BC8-4581-A0D7-D788CDB8C219}"/>
              </a:ext>
            </a:extLst>
          </p:cNvPr>
          <p:cNvSpPr>
            <a:spLocks noGrp="1"/>
          </p:cNvSpPr>
          <p:nvPr/>
        </p:nvSpPr>
        <p:spPr>
          <a:xfrm>
            <a:off x="6496050" y="45148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Managed nodes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5A5114-4B19-4AA0-A11F-9F9FDEDD2C2D}"/>
              </a:ext>
            </a:extLst>
          </p:cNvPr>
          <p:cNvSpPr>
            <a:spLocks noGrp="1"/>
          </p:cNvSpPr>
          <p:nvPr/>
        </p:nvSpPr>
        <p:spPr>
          <a:xfrm>
            <a:off x="8420100" y="45148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P01 / P02 / P03  •  PGB P01 / P02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BF6073-35DF-4850-B76F-264062F29E71}"/>
              </a:ext>
            </a:extLst>
          </p:cNvPr>
          <p:cNvSpPr>
            <a:spLocks noGrp="1"/>
          </p:cNvSpPr>
          <p:nvPr/>
        </p:nvSpPr>
        <p:spPr>
          <a:xfrm>
            <a:off x="6496050" y="49911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Backup owner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438C23-5DB0-4396-8E90-B25C3EE830D3}"/>
              </a:ext>
            </a:extLst>
          </p:cNvPr>
          <p:cNvSpPr>
            <a:spLocks noGrp="1"/>
          </p:cNvSpPr>
          <p:nvPr/>
        </p:nvSpPr>
        <p:spPr>
          <a:xfrm>
            <a:off x="8420100" y="4991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01202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1342A6-3411-483E-91EE-48C3D29D151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149462-17EE-4874-AB2E-4FA0D44FD2A7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B5B89E-2F4D-46E4-9F3A-3C59A7FD85D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78450-04BD-438A-A521-2B21213B4FE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Platform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C63CA-B25E-4082-A0FC-7D6F2479C4DC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endParaRPr sz="1425" b="0" dirty="0">
              <a:solidFill>
                <a:srgbClr val="5E6B7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217CA5-1449-4457-A9F6-B04DA4C11304}"/>
              </a:ext>
            </a:extLst>
          </p:cNvPr>
          <p:cNvSpPr>
            <a:spLocks noGrp="1"/>
          </p:cNvSpPr>
          <p:nvPr/>
        </p:nvSpPr>
        <p:spPr>
          <a:xfrm>
            <a:off x="1463879" y="1571624"/>
            <a:ext cx="9529894" cy="4762501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18B7E-EE91-4D1C-B8B7-541235C745F8}"/>
              </a:ext>
            </a:extLst>
          </p:cNvPr>
          <p:cNvSpPr>
            <a:spLocks noGrp="1"/>
          </p:cNvSpPr>
          <p:nvPr/>
        </p:nvSpPr>
        <p:spPr>
          <a:xfrm>
            <a:off x="2476500" y="314325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E75B6"/>
                </a:solidFill>
              </a:defRPr>
            </a:pPr>
            <a:endParaRPr sz="2250" b="1" dirty="0">
              <a:solidFill>
                <a:srgbClr val="2E75B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058D63-1FB2-4B35-B9A3-24E750A0CDF0}"/>
              </a:ext>
            </a:extLst>
          </p:cNvPr>
          <p:cNvSpPr>
            <a:spLocks noGrp="1"/>
          </p:cNvSpPr>
          <p:nvPr/>
        </p:nvSpPr>
        <p:spPr>
          <a:xfrm>
            <a:off x="2143125" y="3857625"/>
            <a:ext cx="790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E6B7A"/>
                </a:solidFill>
              </a:defRPr>
            </a:pPr>
            <a:endParaRPr sz="1500" b="0" dirty="0">
              <a:solidFill>
                <a:srgbClr val="5E6B7A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4F5101-DF6E-2167-1549-CD1835171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407" y="1634361"/>
            <a:ext cx="6425967" cy="46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1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AE03CC2-8CE7-4CF6-9521-F2E31FF0D30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BAFCE5-CD2A-4195-AC87-A8644FB2EEB0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74A08-EFDB-461E-B8A9-E1E2DDF34D1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B8ACC-D749-4FEE-816D-7B6FE9D2D6C3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Every application connection follows one controlled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EDD67-AA3E-4867-8718-857900A902CB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Applications use the VIP; they never choose a database node directly.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5C542B-9B1F-4A4D-BAB7-3BB3A9A43E4A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1943100" cy="1714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A0836-CB90-421B-862D-ECAB6133E09D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A13C7-FE57-4DE0-8660-F7F25BC35DD0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Application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9198A5-FB0E-472D-A253-44DCE042FC2A}"/>
              </a:ext>
            </a:extLst>
          </p:cNvPr>
          <p:cNvSpPr>
            <a:spLocks noGrp="1"/>
          </p:cNvSpPr>
          <p:nvPr/>
        </p:nvSpPr>
        <p:spPr>
          <a:xfrm>
            <a:off x="895350" y="35814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VIP :5432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31197-C487-42F3-8DE9-B25C40208A6B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32385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1C8FD-04F9-448B-8D0E-D7BBB89A9930}"/>
              </a:ext>
            </a:extLst>
          </p:cNvPr>
          <p:cNvSpPr>
            <a:spLocks noGrp="1"/>
          </p:cNvSpPr>
          <p:nvPr/>
        </p:nvSpPr>
        <p:spPr>
          <a:xfrm>
            <a:off x="2705100" y="3105150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E75B6"/>
                </a:solidFill>
              </a:defRPr>
            </a:pPr>
            <a:r>
              <a:rPr sz="2100" b="1">
                <a:solidFill>
                  <a:srgbClr val="2E75B6"/>
                </a:solidFill>
              </a:rPr>
              <a:t>›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24583C-1514-46CC-BB1A-171E92581F80}"/>
              </a:ext>
            </a:extLst>
          </p:cNvPr>
          <p:cNvSpPr>
            <a:spLocks noGrp="1"/>
          </p:cNvSpPr>
          <p:nvPr/>
        </p:nvSpPr>
        <p:spPr>
          <a:xfrm>
            <a:off x="2990850" y="2495550"/>
            <a:ext cx="1943100" cy="1714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195B09-B2E8-474A-B4B7-E60F81741640}"/>
              </a:ext>
            </a:extLst>
          </p:cNvPr>
          <p:cNvSpPr>
            <a:spLocks noGrp="1"/>
          </p:cNvSpPr>
          <p:nvPr/>
        </p:nvSpPr>
        <p:spPr>
          <a:xfrm>
            <a:off x="3162300" y="26670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1E5B3-7094-4480-A1FC-00A1F26E7F92}"/>
              </a:ext>
            </a:extLst>
          </p:cNvPr>
          <p:cNvSpPr>
            <a:spLocks noGrp="1"/>
          </p:cNvSpPr>
          <p:nvPr/>
        </p:nvSpPr>
        <p:spPr>
          <a:xfrm>
            <a:off x="3162300" y="316230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Keepalived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D277CB-9ED0-4387-A92D-D145E960BFCD}"/>
              </a:ext>
            </a:extLst>
          </p:cNvPr>
          <p:cNvSpPr>
            <a:spLocks noGrp="1"/>
          </p:cNvSpPr>
          <p:nvPr/>
        </p:nvSpPr>
        <p:spPr>
          <a:xfrm>
            <a:off x="3162300" y="35814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VIP owner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A41E53-0F06-46BD-B552-80FFFDABB2E8}"/>
              </a:ext>
            </a:extLst>
          </p:cNvPr>
          <p:cNvSpPr>
            <a:spLocks noGrp="1"/>
          </p:cNvSpPr>
          <p:nvPr/>
        </p:nvSpPr>
        <p:spPr>
          <a:xfrm>
            <a:off x="4933950" y="3333750"/>
            <a:ext cx="32385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DBBEA-82FA-43D1-8E4B-59AEAFBFB3E2}"/>
              </a:ext>
            </a:extLst>
          </p:cNvPr>
          <p:cNvSpPr>
            <a:spLocks noGrp="1"/>
          </p:cNvSpPr>
          <p:nvPr/>
        </p:nvSpPr>
        <p:spPr>
          <a:xfrm>
            <a:off x="4972050" y="3105150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E75B6"/>
                </a:solidFill>
              </a:defRPr>
            </a:pPr>
            <a:r>
              <a:rPr sz="2100" b="1">
                <a:solidFill>
                  <a:srgbClr val="2E75B6"/>
                </a:solidFill>
              </a:rPr>
              <a:t>›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F65123-BF63-45A9-9724-B7EADCEA65FD}"/>
              </a:ext>
            </a:extLst>
          </p:cNvPr>
          <p:cNvSpPr>
            <a:spLocks noGrp="1"/>
          </p:cNvSpPr>
          <p:nvPr/>
        </p:nvSpPr>
        <p:spPr>
          <a:xfrm>
            <a:off x="5257800" y="2495550"/>
            <a:ext cx="1943100" cy="1714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9B54C-257E-4B80-826C-4C05A13EF49D}"/>
              </a:ext>
            </a:extLst>
          </p:cNvPr>
          <p:cNvSpPr>
            <a:spLocks noGrp="1"/>
          </p:cNvSpPr>
          <p:nvPr/>
        </p:nvSpPr>
        <p:spPr>
          <a:xfrm>
            <a:off x="5429250" y="26670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D0C9CC-CA01-4AEF-9697-6683DBCD54EF}"/>
              </a:ext>
            </a:extLst>
          </p:cNvPr>
          <p:cNvSpPr>
            <a:spLocks noGrp="1"/>
          </p:cNvSpPr>
          <p:nvPr/>
        </p:nvSpPr>
        <p:spPr>
          <a:xfrm>
            <a:off x="5429250" y="316230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HAProxy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EF5181-9841-44C4-B779-3B485F98C84E}"/>
              </a:ext>
            </a:extLst>
          </p:cNvPr>
          <p:cNvSpPr>
            <a:spLocks noGrp="1"/>
          </p:cNvSpPr>
          <p:nvPr/>
        </p:nvSpPr>
        <p:spPr>
          <a:xfrm>
            <a:off x="5429250" y="35814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Primary-aware check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4DB3B9-7F97-417D-B87B-5466B0404816}"/>
              </a:ext>
            </a:extLst>
          </p:cNvPr>
          <p:cNvSpPr>
            <a:spLocks noGrp="1"/>
          </p:cNvSpPr>
          <p:nvPr/>
        </p:nvSpPr>
        <p:spPr>
          <a:xfrm>
            <a:off x="7200900" y="3333750"/>
            <a:ext cx="32385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A66351-68D9-4A24-84A8-B9A82EB0A1A5}"/>
              </a:ext>
            </a:extLst>
          </p:cNvPr>
          <p:cNvSpPr>
            <a:spLocks noGrp="1"/>
          </p:cNvSpPr>
          <p:nvPr/>
        </p:nvSpPr>
        <p:spPr>
          <a:xfrm>
            <a:off x="7239000" y="3105150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E75B6"/>
                </a:solidFill>
              </a:defRPr>
            </a:pPr>
            <a:r>
              <a:rPr sz="2100" b="1">
                <a:solidFill>
                  <a:srgbClr val="2E75B6"/>
                </a:solidFill>
              </a:rPr>
              <a:t>›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2AEAE90-A6A9-4F7E-AD59-7A9D9A4610BE}"/>
              </a:ext>
            </a:extLst>
          </p:cNvPr>
          <p:cNvSpPr>
            <a:spLocks noGrp="1"/>
          </p:cNvSpPr>
          <p:nvPr/>
        </p:nvSpPr>
        <p:spPr>
          <a:xfrm>
            <a:off x="7524750" y="2495550"/>
            <a:ext cx="1943100" cy="1714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3776A6-3CCF-4A71-AAAD-8E696D94603B}"/>
              </a:ext>
            </a:extLst>
          </p:cNvPr>
          <p:cNvSpPr>
            <a:spLocks noGrp="1"/>
          </p:cNvSpPr>
          <p:nvPr/>
        </p:nvSpPr>
        <p:spPr>
          <a:xfrm>
            <a:off x="7696200" y="26670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00DAE1-70FE-47F2-B147-4582F5856570}"/>
              </a:ext>
            </a:extLst>
          </p:cNvPr>
          <p:cNvSpPr>
            <a:spLocks noGrp="1"/>
          </p:cNvSpPr>
          <p:nvPr/>
        </p:nvSpPr>
        <p:spPr>
          <a:xfrm>
            <a:off x="7696200" y="316230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PgBouncer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E09857-E196-4810-88F5-9168D9372C25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Transaction pool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5AD6A3-8EA3-4DD1-B712-0FC852F8E23A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323850" cy="28575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B83F74-F6A0-4524-8EAC-B7C9599166CD}"/>
              </a:ext>
            </a:extLst>
          </p:cNvPr>
          <p:cNvSpPr>
            <a:spLocks noGrp="1"/>
          </p:cNvSpPr>
          <p:nvPr/>
        </p:nvSpPr>
        <p:spPr>
          <a:xfrm>
            <a:off x="9505950" y="3105150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E75B6"/>
                </a:solidFill>
              </a:defRPr>
            </a:pPr>
            <a:r>
              <a:rPr sz="2100" b="1">
                <a:solidFill>
                  <a:srgbClr val="2E75B6"/>
                </a:solidFill>
              </a:rPr>
              <a:t>›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A8FE5DD-97E7-419A-9B8D-751503E7EF87}"/>
              </a:ext>
            </a:extLst>
          </p:cNvPr>
          <p:cNvSpPr>
            <a:spLocks noGrp="1"/>
          </p:cNvSpPr>
          <p:nvPr/>
        </p:nvSpPr>
        <p:spPr>
          <a:xfrm>
            <a:off x="9791700" y="2495550"/>
            <a:ext cx="1943100" cy="17145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9525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87830F-2A59-46D3-A00F-977ABFA6352C}"/>
              </a:ext>
            </a:extLst>
          </p:cNvPr>
          <p:cNvSpPr>
            <a:spLocks noGrp="1"/>
          </p:cNvSpPr>
          <p:nvPr/>
        </p:nvSpPr>
        <p:spPr>
          <a:xfrm>
            <a:off x="9963150" y="266700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E75B6"/>
                </a:solidFill>
              </a:defRPr>
            </a:pPr>
            <a:r>
              <a:rPr sz="1950" b="1">
                <a:solidFill>
                  <a:srgbClr val="2E75B6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1F6D5F-6134-41A6-8EF3-D1B559D6E99C}"/>
              </a:ext>
            </a:extLst>
          </p:cNvPr>
          <p:cNvSpPr>
            <a:spLocks noGrp="1"/>
          </p:cNvSpPr>
          <p:nvPr/>
        </p:nvSpPr>
        <p:spPr>
          <a:xfrm>
            <a:off x="9963150" y="316230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PostgreSQL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23F8A2-01AE-4DE7-B0E4-DB850DE50C06}"/>
              </a:ext>
            </a:extLst>
          </p:cNvPr>
          <p:cNvSpPr>
            <a:spLocks noGrp="1"/>
          </p:cNvSpPr>
          <p:nvPr/>
        </p:nvSpPr>
        <p:spPr>
          <a:xfrm>
            <a:off x="9963150" y="358140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Writable primary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799A80-19B8-426A-836A-2B54C91E15C3}"/>
              </a:ext>
            </a:extLst>
          </p:cNvPr>
          <p:cNvSpPr>
            <a:spLocks noGrp="1"/>
          </p:cNvSpPr>
          <p:nvPr/>
        </p:nvSpPr>
        <p:spPr>
          <a:xfrm>
            <a:off x="1619250" y="5010150"/>
            <a:ext cx="895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2545"/>
                </a:solidFill>
              </a:defRPr>
            </a:pPr>
            <a:endParaRPr sz="1575" b="1" dirty="0">
              <a:solidFill>
                <a:srgbClr val="0B254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50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B245C50-632F-4559-9E66-4E5EBEB516F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C7B486-1D0F-4CC2-BF82-5645747B6AE7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D1F8F-659C-4278-894B-502D906197B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376D4B-B22B-43A0-AA84-85FB91B7418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Database and routing failover are independent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5B631-E0AC-4EA7-B910-AFDC951A1DB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One changes the writable database; the other changes the VIP owner.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072725-6952-42A3-AA5A-37C6C9A2830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276850" cy="3505200"/>
          </a:xfrm>
          <a:prstGeom prst="roundRect">
            <a:avLst>
              <a:gd name="adj" fmla="val 3261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67FF7-F36D-4C08-9FA3-1780610B4B55}"/>
              </a:ext>
            </a:extLst>
          </p:cNvPr>
          <p:cNvSpPr>
            <a:spLocks noGrp="1"/>
          </p:cNvSpPr>
          <p:nvPr/>
        </p:nvSpPr>
        <p:spPr>
          <a:xfrm>
            <a:off x="971550" y="23431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DATABASE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56899D-E4FF-4DFA-95D1-03CA7F5F54F8}"/>
              </a:ext>
            </a:extLst>
          </p:cNvPr>
          <p:cNvSpPr>
            <a:spLocks noGrp="1"/>
          </p:cNvSpPr>
          <p:nvPr/>
        </p:nvSpPr>
        <p:spPr>
          <a:xfrm>
            <a:off x="971550" y="28670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E75B6"/>
                </a:solidFill>
              </a:defRPr>
            </a:pPr>
            <a:r>
              <a:rPr sz="1425" b="1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13EE5-E367-486F-834F-2166BF6508D7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pg_auto_failover monitor decides roles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B5904-BB2D-42BE-89EF-9E81F70694D6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E75B6"/>
                </a:solidFill>
              </a:defRPr>
            </a:pPr>
            <a:r>
              <a:rPr sz="1425" b="1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2C04F-9BB2-4C36-9A87-9B12566F54A5}"/>
              </a:ext>
            </a:extLst>
          </p:cNvPr>
          <p:cNvSpPr>
            <a:spLocks noGrp="1"/>
          </p:cNvSpPr>
          <p:nvPr/>
        </p:nvSpPr>
        <p:spPr>
          <a:xfrm>
            <a:off x="1257300" y="34861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Standby is promoted after primary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641C4-FC12-4139-8650-F35DBC9028F1}"/>
              </a:ext>
            </a:extLst>
          </p:cNvPr>
          <p:cNvSpPr>
            <a:spLocks noGrp="1"/>
          </p:cNvSpPr>
          <p:nvPr/>
        </p:nvSpPr>
        <p:spPr>
          <a:xfrm>
            <a:off x="971550" y="40862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E75B6"/>
                </a:solidFill>
              </a:defRPr>
            </a:pPr>
            <a:r>
              <a:rPr sz="1425" b="1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28B26-5FFD-4EE7-B164-9DC673F65625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Returning node rejoins as secondary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1CF442-D3CF-41D5-80D6-9550ADDC7B71}"/>
              </a:ext>
            </a:extLst>
          </p:cNvPr>
          <p:cNvSpPr>
            <a:spLocks noGrp="1"/>
          </p:cNvSpPr>
          <p:nvPr/>
        </p:nvSpPr>
        <p:spPr>
          <a:xfrm>
            <a:off x="971550" y="46958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E75B6"/>
                </a:solidFill>
              </a:defRPr>
            </a:pPr>
            <a:r>
              <a:rPr sz="1425" b="1">
                <a:solidFill>
                  <a:srgbClr val="2E75B6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11D76-7B20-4221-A8DE-FB1EBAF20A1E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Never use pg_ctl promote manually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31DE5A-AB08-4BF1-8726-9720E53AFDF6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5276850" cy="3505200"/>
          </a:xfrm>
          <a:prstGeom prst="roundRect">
            <a:avLst>
              <a:gd name="adj" fmla="val 3261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8A3B46-394A-4426-9C62-7C7B1DC55554}"/>
              </a:ext>
            </a:extLst>
          </p:cNvPr>
          <p:cNvSpPr>
            <a:spLocks noGrp="1"/>
          </p:cNvSpPr>
          <p:nvPr/>
        </p:nvSpPr>
        <p:spPr>
          <a:xfrm>
            <a:off x="6515100" y="23431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D7D5B"/>
                </a:solidFill>
              </a:defRPr>
            </a:pPr>
            <a:r>
              <a:rPr sz="1050" b="1">
                <a:solidFill>
                  <a:srgbClr val="2D7D5B"/>
                </a:solidFill>
              </a:rPr>
              <a:t>ROUTING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66177E-5A32-4D08-BADA-3BBCA0A7238B}"/>
              </a:ext>
            </a:extLst>
          </p:cNvPr>
          <p:cNvSpPr>
            <a:spLocks noGrp="1"/>
          </p:cNvSpPr>
          <p:nvPr/>
        </p:nvSpPr>
        <p:spPr>
          <a:xfrm>
            <a:off x="6515100" y="28670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7D5B"/>
                </a:solidFill>
              </a:defRPr>
            </a:pPr>
            <a:r>
              <a:rPr sz="1425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F9E125-6F9E-4A9D-8ED5-BBFD78339848}"/>
              </a:ext>
            </a:extLst>
          </p:cNvPr>
          <p:cNvSpPr>
            <a:spLocks noGrp="1"/>
          </p:cNvSpPr>
          <p:nvPr/>
        </p:nvSpPr>
        <p:spPr>
          <a:xfrm>
            <a:off x="6800850" y="28765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Keepalived owns the VIP on one router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086275-3C10-43E2-96CA-F76029D2C3A4}"/>
              </a:ext>
            </a:extLst>
          </p:cNvPr>
          <p:cNvSpPr>
            <a:spLocks noGrp="1"/>
          </p:cNvSpPr>
          <p:nvPr/>
        </p:nvSpPr>
        <p:spPr>
          <a:xfrm>
            <a:off x="6515100" y="34766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7D5B"/>
                </a:solidFill>
              </a:defRPr>
            </a:pPr>
            <a:r>
              <a:rPr sz="1425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9B80B5-B88A-4F1B-A49F-0D897EBCD8AD}"/>
              </a:ext>
            </a:extLst>
          </p:cNvPr>
          <p:cNvSpPr>
            <a:spLocks noGrp="1"/>
          </p:cNvSpPr>
          <p:nvPr/>
        </p:nvSpPr>
        <p:spPr>
          <a:xfrm>
            <a:off x="6800850" y="34861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HAProxy health is tracked by Keepalived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F9DEC1-0296-441E-A3F5-7425BF5D20D0}"/>
              </a:ext>
            </a:extLst>
          </p:cNvPr>
          <p:cNvSpPr>
            <a:spLocks noGrp="1"/>
          </p:cNvSpPr>
          <p:nvPr/>
        </p:nvSpPr>
        <p:spPr>
          <a:xfrm>
            <a:off x="6515100" y="40862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7D5B"/>
                </a:solidFill>
              </a:defRPr>
            </a:pPr>
            <a:r>
              <a:rPr sz="1425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88CC7E-5213-4265-A908-8BC6CD06CE44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Peer acquires VIP when owner fails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A83AFD-4354-4779-B766-F0CC35FBC5E5}"/>
              </a:ext>
            </a:extLst>
          </p:cNvPr>
          <p:cNvSpPr>
            <a:spLocks noGrp="1"/>
          </p:cNvSpPr>
          <p:nvPr/>
        </p:nvSpPr>
        <p:spPr>
          <a:xfrm>
            <a:off x="6515100" y="46958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7D5B"/>
                </a:solidFill>
              </a:defRPr>
            </a:pPr>
            <a:r>
              <a:rPr sz="1425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6A4F42-BE66-436E-A524-9C5767203B2F}"/>
              </a:ext>
            </a:extLst>
          </p:cNvPr>
          <p:cNvSpPr>
            <a:spLocks noGrp="1"/>
          </p:cNvSpPr>
          <p:nvPr/>
        </p:nvSpPr>
        <p:spPr>
          <a:xfrm>
            <a:off x="6800850" y="4705350"/>
            <a:ext cx="438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Preferred router reclaims VIP after recovery</a:t>
            </a:r>
          </a:p>
        </p:txBody>
      </p:sp>
    </p:spTree>
    <p:extLst>
      <p:ext uri="{BB962C8B-B14F-4D97-AF65-F5344CB8AC3E}">
        <p14:creationId xmlns:p14="http://schemas.microsoft.com/office/powerpoint/2010/main" val="51362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83F6B92-EED8-45E0-B94B-BAD2584CC27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21AB7C-71F2-48F8-BC88-EBD1F99EB142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8FF68-2A0A-479E-84F3-D907B45B138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D964F-2C94-4347-B4DC-592B6453AF5F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repository separates environment data from reusable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4F84E-1AB1-49EE-BBA5-729595A6A25A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site.yml sequences the platform; inventories and group_vars select UAT or Production.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2240D7-02DB-48D2-A815-D368A3ED832E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4476750" cy="400050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AB426-C805-4B32-AFC1-1556638488BF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3714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ansible-pg-ha/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inventories/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group_vars/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roles/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bootstrap.yml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├─ site.yml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└─ tests/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A2DA4-B1C0-4122-813D-3B850211A87C}"/>
              </a:ext>
            </a:extLst>
          </p:cNvPr>
          <p:cNvSpPr>
            <a:spLocks noGrp="1"/>
          </p:cNvSpPr>
          <p:nvPr/>
        </p:nvSpPr>
        <p:spPr>
          <a:xfrm>
            <a:off x="5695950" y="20193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44D7F-45A5-493C-BE46-DE5E5627EBA0}"/>
              </a:ext>
            </a:extLst>
          </p:cNvPr>
          <p:cNvSpPr>
            <a:spLocks noGrp="1"/>
          </p:cNvSpPr>
          <p:nvPr/>
        </p:nvSpPr>
        <p:spPr>
          <a:xfrm>
            <a:off x="5695950" y="2286000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push_ssh_keys • ufw_firewall • os_tuning • storage_lvm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4E62E-43AD-4C71-B485-72D15290B070}"/>
              </a:ext>
            </a:extLst>
          </p:cNvPr>
          <p:cNvSpPr>
            <a:spLocks noGrp="1"/>
          </p:cNvSpPr>
          <p:nvPr/>
        </p:nvSpPr>
        <p:spPr>
          <a:xfrm>
            <a:off x="5695950" y="2800350"/>
            <a:ext cx="533400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AA7AEB-4003-4FE5-A7AD-F8DF77A49BC3}"/>
              </a:ext>
            </a:extLst>
          </p:cNvPr>
          <p:cNvSpPr>
            <a:spLocks noGrp="1"/>
          </p:cNvSpPr>
          <p:nvPr/>
        </p:nvSpPr>
        <p:spPr>
          <a:xfrm>
            <a:off x="5695950" y="29337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DATABASE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8D097-69F2-47B5-97C6-6C5529AD7CA6}"/>
              </a:ext>
            </a:extLst>
          </p:cNvPr>
          <p:cNvSpPr>
            <a:spLocks noGrp="1"/>
          </p:cNvSpPr>
          <p:nvPr/>
        </p:nvSpPr>
        <p:spPr>
          <a:xfrm>
            <a:off x="5695950" y="3200400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pg_auto_failover • database_bootstrap • backup provider cleanup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4C8C4-B304-407B-92A4-12B0F15474E3}"/>
              </a:ext>
            </a:extLst>
          </p:cNvPr>
          <p:cNvSpPr>
            <a:spLocks noGrp="1"/>
          </p:cNvSpPr>
          <p:nvPr/>
        </p:nvSpPr>
        <p:spPr>
          <a:xfrm>
            <a:off x="5695950" y="3714750"/>
            <a:ext cx="533400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DA34A7-F729-4B9D-8280-61D8AF1646DC}"/>
              </a:ext>
            </a:extLst>
          </p:cNvPr>
          <p:cNvSpPr>
            <a:spLocks noGrp="1"/>
          </p:cNvSpPr>
          <p:nvPr/>
        </p:nvSpPr>
        <p:spPr>
          <a:xfrm>
            <a:off x="5695950" y="38481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ROUTING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3F14CB-47AB-4A18-9788-F8762EB9EC71}"/>
              </a:ext>
            </a:extLst>
          </p:cNvPr>
          <p:cNvSpPr>
            <a:spLocks noGrp="1"/>
          </p:cNvSpPr>
          <p:nvPr/>
        </p:nvSpPr>
        <p:spPr>
          <a:xfrm>
            <a:off x="5695950" y="4114800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pgbouncer • keepalived_haproxy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741A95-D255-4509-96B2-8C5D285600C0}"/>
              </a:ext>
            </a:extLst>
          </p:cNvPr>
          <p:cNvSpPr>
            <a:spLocks noGrp="1"/>
          </p:cNvSpPr>
          <p:nvPr/>
        </p:nvSpPr>
        <p:spPr>
          <a:xfrm>
            <a:off x="5695950" y="4629150"/>
            <a:ext cx="533400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D0CAFE-0675-45B8-94F2-46AE88C2FEE0}"/>
              </a:ext>
            </a:extLst>
          </p:cNvPr>
          <p:cNvSpPr>
            <a:spLocks noGrp="1"/>
          </p:cNvSpPr>
          <p:nvPr/>
        </p:nvSpPr>
        <p:spPr>
          <a:xfrm>
            <a:off x="5695950" y="47625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VISIBILITY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50286-307E-46E3-A6D4-FA520EEE23EF}"/>
              </a:ext>
            </a:extLst>
          </p:cNvPr>
          <p:cNvSpPr>
            <a:spLocks noGrp="1"/>
          </p:cNvSpPr>
          <p:nvPr/>
        </p:nvSpPr>
        <p:spPr>
          <a:xfrm>
            <a:off x="5695950" y="5029200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monitoring_agents • health and failover tests</a:t>
            </a:r>
          </a:p>
        </p:txBody>
      </p:sp>
    </p:spTree>
    <p:extLst>
      <p:ext uri="{BB962C8B-B14F-4D97-AF65-F5344CB8AC3E}">
        <p14:creationId xmlns:p14="http://schemas.microsoft.com/office/powerpoint/2010/main" val="187056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FE0199F-290E-4714-AC30-20EA7CE524D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FF47FC-534D-4D26-B11F-AA5C617B92B4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664D7C-7BD2-4487-BC94-51E014AD42F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7DF9AF-1D4E-4B26-B8DB-A231D15D208D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Deployment follows a guarded sequence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3309D-5FEC-4E2D-9538-38CAA53C98E0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Run from the Linux Ansible control server; do not limit the first full deployment.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D29F9-57D5-457C-827B-DA69A6C7C75D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E75B6"/>
                </a:solidFill>
              </a:defRPr>
            </a:pPr>
            <a:r>
              <a:rPr sz="2250" b="1">
                <a:solidFill>
                  <a:srgbClr val="2E75B6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DA497-1F64-44AB-A185-BF7FA4FF036B}"/>
              </a:ext>
            </a:extLst>
          </p:cNvPr>
          <p:cNvSpPr>
            <a:spLocks noGrp="1"/>
          </p:cNvSpPr>
          <p:nvPr/>
        </p:nvSpPr>
        <p:spPr>
          <a:xfrm>
            <a:off x="1504950" y="19526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Bootstrap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E13B7-E663-4A3F-B4E0-56E2840DB9DD}"/>
              </a:ext>
            </a:extLst>
          </p:cNvPr>
          <p:cNvSpPr>
            <a:spLocks noGrp="1"/>
          </p:cNvSpPr>
          <p:nvPr/>
        </p:nvSpPr>
        <p:spPr>
          <a:xfrm>
            <a:off x="3714750" y="1971675"/>
            <a:ext cx="752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Push the controller public key with --ask-pass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7C9AA-277E-493C-8165-C41F400B0981}"/>
              </a:ext>
            </a:extLst>
          </p:cNvPr>
          <p:cNvSpPr>
            <a:spLocks noGrp="1"/>
          </p:cNvSpPr>
          <p:nvPr/>
        </p:nvSpPr>
        <p:spPr>
          <a:xfrm>
            <a:off x="1504950" y="2562225"/>
            <a:ext cx="97345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4CE89-344D-44C9-B9A8-1487630D139B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E75B6"/>
                </a:solidFill>
              </a:defRPr>
            </a:pPr>
            <a:r>
              <a:rPr sz="2250" b="1">
                <a:solidFill>
                  <a:srgbClr val="2E75B6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0158DC-67C4-483E-898F-6A1E89E0C4C1}"/>
              </a:ext>
            </a:extLst>
          </p:cNvPr>
          <p:cNvSpPr>
            <a:spLocks noGrp="1"/>
          </p:cNvSpPr>
          <p:nvPr/>
        </p:nvSpPr>
        <p:spPr>
          <a:xfrm>
            <a:off x="1504950" y="29051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Validate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6973C-0E83-422A-9694-A887525B8824}"/>
              </a:ext>
            </a:extLst>
          </p:cNvPr>
          <p:cNvSpPr>
            <a:spLocks noGrp="1"/>
          </p:cNvSpPr>
          <p:nvPr/>
        </p:nvSpPr>
        <p:spPr>
          <a:xfrm>
            <a:off x="3714750" y="2924175"/>
            <a:ext cx="752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Inventory graph, Vault, syntax, disks, mounts and interface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13878A-1ABE-4F99-B0F0-7E9738FE8080}"/>
              </a:ext>
            </a:extLst>
          </p:cNvPr>
          <p:cNvSpPr>
            <a:spLocks noGrp="1"/>
          </p:cNvSpPr>
          <p:nvPr/>
        </p:nvSpPr>
        <p:spPr>
          <a:xfrm>
            <a:off x="1504950" y="3514725"/>
            <a:ext cx="97345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7108AA-F739-4C87-9122-25D0E8AD6A34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E75B6"/>
                </a:solidFill>
              </a:defRPr>
            </a:pPr>
            <a:r>
              <a:rPr sz="2250" b="1">
                <a:solidFill>
                  <a:srgbClr val="2E75B6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8303A4-1267-4266-9000-F803DC21C738}"/>
              </a:ext>
            </a:extLst>
          </p:cNvPr>
          <p:cNvSpPr>
            <a:spLocks noGrp="1"/>
          </p:cNvSpPr>
          <p:nvPr/>
        </p:nvSpPr>
        <p:spPr>
          <a:xfrm>
            <a:off x="1504950" y="38576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Deploy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434EA-30BC-4583-B329-7CFFD25DC44E}"/>
              </a:ext>
            </a:extLst>
          </p:cNvPr>
          <p:cNvSpPr>
            <a:spLocks noGrp="1"/>
          </p:cNvSpPr>
          <p:nvPr/>
        </p:nvSpPr>
        <p:spPr>
          <a:xfrm>
            <a:off x="3714750" y="3876675"/>
            <a:ext cx="752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Select UAT or Production inventory and run site.yml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D586A0-B061-4EBE-8551-F196AC2F7F5B}"/>
              </a:ext>
            </a:extLst>
          </p:cNvPr>
          <p:cNvSpPr>
            <a:spLocks noGrp="1"/>
          </p:cNvSpPr>
          <p:nvPr/>
        </p:nvSpPr>
        <p:spPr>
          <a:xfrm>
            <a:off x="1504950" y="4467225"/>
            <a:ext cx="97345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7FA588-ADD1-4790-99E3-8A27AB6E757A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E75B6"/>
                </a:solidFill>
              </a:defRPr>
            </a:pPr>
            <a:r>
              <a:rPr sz="2250" b="1">
                <a:solidFill>
                  <a:srgbClr val="2E75B6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79618A-FE2A-4B59-AB99-EDAAF221D680}"/>
              </a:ext>
            </a:extLst>
          </p:cNvPr>
          <p:cNvSpPr>
            <a:spLocks noGrp="1"/>
          </p:cNvSpPr>
          <p:nvPr/>
        </p:nvSpPr>
        <p:spPr>
          <a:xfrm>
            <a:off x="1504950" y="48101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Verify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C6AFE-1F62-4A29-AC33-7445B7992FC1}"/>
              </a:ext>
            </a:extLst>
          </p:cNvPr>
          <p:cNvSpPr>
            <a:spLocks noGrp="1"/>
          </p:cNvSpPr>
          <p:nvPr/>
        </p:nvSpPr>
        <p:spPr>
          <a:xfrm>
            <a:off x="3714750" y="4829175"/>
            <a:ext cx="752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Health suite, pg_autoctl state, VIP, SQL path and exporters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FF559B1-43C3-40D0-83C6-B19CB3DA596D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10458450" cy="495300"/>
          </a:xfrm>
          <a:prstGeom prst="roundRect">
            <a:avLst>
              <a:gd name="adj" fmla="val 23077"/>
            </a:avLst>
          </a:prstGeom>
          <a:solidFill>
            <a:srgbClr val="EAF2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FB5951-B814-4C4A-9971-98ADE5678D58}"/>
              </a:ext>
            </a:extLst>
          </p:cNvPr>
          <p:cNvSpPr>
            <a:spLocks noGrp="1"/>
          </p:cNvSpPr>
          <p:nvPr/>
        </p:nvSpPr>
        <p:spPr>
          <a:xfrm>
            <a:off x="1047750" y="595312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Production: keep storage_lvm_enabled=false when LVM, XFS, mounts and /etc/fstab are already provisioned.</a:t>
            </a:r>
          </a:p>
        </p:txBody>
      </p:sp>
    </p:spTree>
    <p:extLst>
      <p:ext uri="{BB962C8B-B14F-4D97-AF65-F5344CB8AC3E}">
        <p14:creationId xmlns:p14="http://schemas.microsoft.com/office/powerpoint/2010/main" val="146635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FAA0F1E-3FDB-47DD-9544-D209852FCE9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4410B8-309A-4C0F-8D3B-3A186F7F05ED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1D9B07-7901-475B-9A24-AFADADEC0F3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1E77A-81EB-46B4-9A56-CCDCA4DDD462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UAT and Production use the same deployment command pattern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6B7DB2-2628-4C48-9BD1-74ED872E46F1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Change only the selected inventory; keep Vault and evidence handling consistent.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E6B52-1DE5-4734-AE24-C7A6669790C5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UAT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EC7162-6503-46D4-A103-143B50DC74A1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0572750" cy="1066800"/>
          </a:xfrm>
          <a:prstGeom prst="roundRect">
            <a:avLst>
              <a:gd name="adj" fmla="val 10714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F92CB7-B55A-45F1-B64D-D3FE8CC21324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ansible-playbook -i inventories/uat_hosts.ini site.yml \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--ask-vault-pass | tee "uat-deployment-$(date +%F-%H%M).log"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24E4D-834F-4FEE-A92B-D59EBAB186F7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PRODUCTION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606CB7-7209-4036-812B-87C0275D5D2B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10572750" cy="123825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256539-EC85-43A1-B13B-19804D39D929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1009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ansible-playbook -i inventories/prod_hosts.ini site.yml \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--skip-tags storage -e storage_lvm_enabled=false \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--ask-vault-pass | tee "prod-deployment-$(date +%F-%H%M).log"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C2EC2-66FC-4CD3-98EA-6B38BE677401}"/>
              </a:ext>
            </a:extLst>
          </p:cNvPr>
          <p:cNvSpPr>
            <a:spLocks noGrp="1"/>
          </p:cNvSpPr>
          <p:nvPr/>
        </p:nvSpPr>
        <p:spPr>
          <a:xfrm>
            <a:off x="819150" y="563880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3261E"/>
                </a:solidFill>
              </a:defRPr>
            </a:pPr>
            <a:r>
              <a:rPr sz="1350" b="1">
                <a:solidFill>
                  <a:srgbClr val="B3261E"/>
                </a:solidFill>
              </a:rPr>
              <a:t>First full deployment: avoid --limit because monitor → initial primary → standby sequencing matters.</a:t>
            </a:r>
          </a:p>
        </p:txBody>
      </p:sp>
    </p:spTree>
    <p:extLst>
      <p:ext uri="{BB962C8B-B14F-4D97-AF65-F5344CB8AC3E}">
        <p14:creationId xmlns:p14="http://schemas.microsoft.com/office/powerpoint/2010/main" val="14815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4A05181-252B-499B-89C4-15A437E2AAD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D31E0-6DFC-446D-9E10-6AE4B19C3A2F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2AE8A5-0AF8-4262-8743-BAE439A4F24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30C11-D75E-403F-B0E8-D743B79391C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Testing progresses from read-only health to controlled failover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1C951-F652-4FA3-B229-6A7EEA70ED2C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Disruptive tests require an approved window and the correct typed confirmation.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CBE0A-505A-4AFF-A3E8-6A8A524EBDB8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D7D5B"/>
                </a:solidFill>
              </a:defRPr>
            </a:pPr>
            <a:r>
              <a:rPr sz="1050" b="1">
                <a:solidFill>
                  <a:srgbClr val="2D7D5B"/>
                </a:solidFill>
              </a:rPr>
              <a:t>READ-ONLY HEALTH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153C3-6BC8-4330-AEF4-83E5C21B1853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bash tests/run_health.sh --ask-vault-pass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07263E-C5E5-4BE3-8214-0A010ADBA186}"/>
              </a:ext>
            </a:extLst>
          </p:cNvPr>
          <p:cNvSpPr>
            <a:spLocks noGrp="1"/>
          </p:cNvSpPr>
          <p:nvPr/>
        </p:nvSpPr>
        <p:spPr>
          <a:xfrm>
            <a:off x="5810250" y="2066925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Services, Chrony, UFW, mounts, exporters, SQL through VIP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BC4FA-16AE-4233-B51F-EAB0E074541D}"/>
              </a:ext>
            </a:extLst>
          </p:cNvPr>
          <p:cNvSpPr>
            <a:spLocks noGrp="1"/>
          </p:cNvSpPr>
          <p:nvPr/>
        </p:nvSpPr>
        <p:spPr>
          <a:xfrm>
            <a:off x="781050" y="2733675"/>
            <a:ext cx="104584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62855B-4483-46D0-BF8D-0C5D7C0D181E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6500"/>
                </a:solidFill>
              </a:defRPr>
            </a:pPr>
            <a:r>
              <a:rPr sz="1050" b="1">
                <a:solidFill>
                  <a:srgbClr val="A96500"/>
                </a:solidFill>
              </a:rPr>
              <a:t>ROUTING FAILOVER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8B6D6F-D724-4038-89F6-5128B3C0C7FC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bash tests/run_routing_failover.sh --ask-vault-pass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C486D-E95D-4FC9-A88C-DF5F1C90ED0A}"/>
              </a:ext>
            </a:extLst>
          </p:cNvPr>
          <p:cNvSpPr>
            <a:spLocks noGrp="1"/>
          </p:cNvSpPr>
          <p:nvPr/>
        </p:nvSpPr>
        <p:spPr>
          <a:xfrm>
            <a:off x="5810250" y="3067050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Moves VIP to peer, proves SQL, restores preferred owner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4F985B-D6F8-42F1-A60D-D0F2C70E85F4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04584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BEA94-6EBA-4C32-9158-6ECC2263FDDB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6500"/>
                </a:solidFill>
              </a:defRPr>
            </a:pPr>
            <a:r>
              <a:rPr sz="1050" b="1">
                <a:solidFill>
                  <a:srgbClr val="A96500"/>
                </a:solidFill>
              </a:rPr>
              <a:t>DATABASE SWITCHOVER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D15DF1-E998-4111-A041-FED3793C2246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bash tests/run_db_failover.sh --ask-vault-pass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BF2673-6967-42A1-9B56-089A7724437B}"/>
              </a:ext>
            </a:extLst>
          </p:cNvPr>
          <p:cNvSpPr>
            <a:spLocks noGrp="1"/>
          </p:cNvSpPr>
          <p:nvPr/>
        </p:nvSpPr>
        <p:spPr>
          <a:xfrm>
            <a:off x="5810250" y="4067175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Monitor-coordinated role exchange and SQL validation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076492-B011-490C-B3AA-8F11A7C84E8E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10458450" cy="9525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628505-1A3E-4B6C-9681-F02AFE5207FD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3261E"/>
                </a:solidFill>
              </a:defRPr>
            </a:pPr>
            <a:r>
              <a:rPr sz="1050" b="1">
                <a:solidFill>
                  <a:srgbClr val="B3261E"/>
                </a:solidFill>
              </a:rPr>
              <a:t>CLIENT HA/DR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80B703-B5F0-41B2-B53B-7720C7694AEB}"/>
              </a:ext>
            </a:extLst>
          </p:cNvPr>
          <p:cNvSpPr>
            <a:spLocks noGrp="1"/>
          </p:cNvSpPr>
          <p:nvPr/>
        </p:nvSpPr>
        <p:spPr>
          <a:xfrm>
            <a:off x="781050" y="523875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bash tests/run_client_dr_failover.sh --ask-vault-pass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5828F7-518A-497A-8CB0-9B918B4F6C6D}"/>
              </a:ext>
            </a:extLst>
          </p:cNvPr>
          <p:cNvSpPr>
            <a:spLocks noGrp="1"/>
          </p:cNvSpPr>
          <p:nvPr/>
        </p:nvSpPr>
        <p:spPr>
          <a:xfrm>
            <a:off x="5810250" y="5067300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A"/>
                </a:solidFill>
              </a:defRPr>
            </a:pPr>
            <a:r>
              <a:rPr sz="1350" b="0">
                <a:solidFill>
                  <a:srgbClr val="5E6B7A"/>
                </a:solidFill>
              </a:rPr>
              <a:t>Baseline, routing, database, restoration and evidence bundle</a:t>
            </a:r>
          </a:p>
        </p:txBody>
      </p:sp>
    </p:spTree>
    <p:extLst>
      <p:ext uri="{BB962C8B-B14F-4D97-AF65-F5344CB8AC3E}">
        <p14:creationId xmlns:p14="http://schemas.microsoft.com/office/powerpoint/2010/main" val="11378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9FF3E87-1E1A-4803-9471-0704F7DAD04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AD32C3-F12B-461A-9756-6269274A1497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E37C0-C4A1-4E3F-A574-4782D91970D4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08220F-6382-4C81-94D4-664A32383F6C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 successful test proves the entire service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B3E842-6A26-439D-A329-A0ECD93F657E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Passing Ansible output alone is not enough; validate the cluster, routing and client experience.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D9BA97-2E00-4E01-A3A9-98EC4B4FE287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57ACCC-1F03-4A21-ABC5-986344DAED7C}"/>
              </a:ext>
            </a:extLst>
          </p:cNvPr>
          <p:cNvSpPr>
            <a:spLocks noGrp="1"/>
          </p:cNvSpPr>
          <p:nvPr/>
        </p:nvSpPr>
        <p:spPr>
          <a:xfrm>
            <a:off x="1257300" y="20002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failed=0 and unreachable=0 for all targeted hosts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462AA7-4BD0-4368-8D97-80F0DD53D805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765B6-49CE-4B60-B7C1-5F66ED1C8990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Chrony reports normal synchronization on every node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4A7050-88C6-4B88-A6A0-2856A7D20DF8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94222-1AD4-417D-B6B9-0F813DB066B9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pg_autoctl shows one writable primary and one stable secondary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5B8697-AA98-4C82-9B73-D8D9CFE70AE7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3E73FA-4B1B-48A9-9317-5C88D1A7AE45}"/>
              </a:ext>
            </a:extLst>
          </p:cNvPr>
          <p:cNvSpPr>
            <a:spLocks noGrp="1"/>
          </p:cNvSpPr>
          <p:nvPr/>
        </p:nvSpPr>
        <p:spPr>
          <a:xfrm>
            <a:off x="1257300" y="46291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Exactly one routing node owns the database VIP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560A2E-1F4F-4670-A2D9-C698CE9E881D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F231E5-F0E9-497A-90A5-60DD7E1953D1}"/>
              </a:ext>
            </a:extLst>
          </p:cNvPr>
          <p:cNvSpPr>
            <a:spLocks noGrp="1"/>
          </p:cNvSpPr>
          <p:nvPr/>
        </p:nvSpPr>
        <p:spPr>
          <a:xfrm>
            <a:off x="6781800" y="20002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SQL through the VIP returns pg_is_in_recovery() = false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1B9250-CBF9-4497-B80E-FDA1EBBF6650}"/>
              </a:ext>
            </a:extLst>
          </p:cNvPr>
          <p:cNvSpPr>
            <a:spLocks noGrp="1"/>
          </p:cNvSpPr>
          <p:nvPr/>
        </p:nvSpPr>
        <p:spPr>
          <a:xfrm>
            <a:off x="6324600" y="28765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7595F7-CB99-42EE-874B-94B23C3139F1}"/>
              </a:ext>
            </a:extLst>
          </p:cNvPr>
          <p:cNvSpPr>
            <a:spLocks noGrp="1"/>
          </p:cNvSpPr>
          <p:nvPr/>
        </p:nvSpPr>
        <p:spPr>
          <a:xfrm>
            <a:off x="6781800" y="28765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Required exporters respond from approved monitoring 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AB0750-5F83-4B19-BB43-4664AAF015BF}"/>
              </a:ext>
            </a:extLst>
          </p:cNvPr>
          <p:cNvSpPr>
            <a:spLocks noGrp="1"/>
          </p:cNvSpPr>
          <p:nvPr/>
        </p:nvSpPr>
        <p:spPr>
          <a:xfrm>
            <a:off x="6324600" y="37528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D7D5B"/>
                </a:solidFill>
              </a:defRPr>
            </a:pPr>
            <a:r>
              <a:rPr sz="195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6B38F3-5C05-40D5-8E3D-5370B0DB8A27}"/>
              </a:ext>
            </a:extLst>
          </p:cNvPr>
          <p:cNvSpPr>
            <a:spLocks noGrp="1"/>
          </p:cNvSpPr>
          <p:nvPr/>
        </p:nvSpPr>
        <p:spPr>
          <a:xfrm>
            <a:off x="6781800" y="375285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Rubrik backup evidence is verified separately</a:t>
            </a:r>
          </a:p>
        </p:txBody>
      </p:sp>
    </p:spTree>
    <p:extLst>
      <p:ext uri="{BB962C8B-B14F-4D97-AF65-F5344CB8AC3E}">
        <p14:creationId xmlns:p14="http://schemas.microsoft.com/office/powerpoint/2010/main" val="491673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BC9EC8-DBEF-4D31-962E-A8FDB73BB5E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441D4E-C526-485A-9D08-A04F74829A89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C395F4-9551-47B7-B9FD-AA011F67ECC1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9E136-0098-4969-8DCC-1541F87014DE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Use the monitor as the source of truth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D319AC-AB7B-4D51-80C3-22F368E2E05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Run pg_autoctl commands from the Ansible server rather than inferring roles from inventory names.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EA87DC-910E-4500-8B43-EB0926686D6D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SHOW STATE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A177FA-1A3F-4A7E-B79C-E31F7280FFE7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10572750" cy="85725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4267C4-A6D2-49F8-87E9-14964730F7EA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ansible db_monitor -i "$INVENTORY" -b --become-user postgres -m command \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-a "pg_autoctl show state --pgdata /pgdata/pgroot/data"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D19922-584E-4985-88BD-72A3031A16E2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CHECK LOCAL CONFIGURATION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C3D267-51AF-4871-8130-57495B5D103F}"/>
              </a:ext>
            </a:extLst>
          </p:cNvPr>
          <p:cNvSpPr>
            <a:spLocks noGrp="1"/>
          </p:cNvSpPr>
          <p:nvPr/>
        </p:nvSpPr>
        <p:spPr>
          <a:xfrm>
            <a:off x="781050" y="3571875"/>
            <a:ext cx="10572750" cy="85725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20708E-A0E2-493C-9FCF-48BC1B85570F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ansible db_cluster -i "$INVENTORY" -b --become-user postgres -m command \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-a "pg_autoctl config check --pgdata /pgdata/pgroot/data"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8F78C1-68D0-4B27-8588-5D32A5CA8289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WATCH TRANSITIONS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0F277E-880D-4C5A-9C63-E797F06F3CE6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0572750" cy="85725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CACC7B-056C-4AB3-B2CC-215C0721C107}"/>
              </a:ext>
            </a:extLst>
          </p:cNvPr>
          <p:cNvSpPr>
            <a:spLocks noGrp="1"/>
          </p:cNvSpPr>
          <p:nvPr/>
        </p:nvSpPr>
        <p:spPr>
          <a:xfrm>
            <a:off x="1009650" y="5114925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watch -n 2 "ansible '$DB_MONITOR' -i '$INVENTORY' -b --become-user postgres \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-m command -a 'pg_autoctl show state --pgdata /pgdata/pgroot/data'"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AFDD8-28CC-402C-9FD7-BAC1AEF213C1}"/>
              </a:ext>
            </a:extLst>
          </p:cNvPr>
          <p:cNvSpPr>
            <a:spLocks noGrp="1"/>
          </p:cNvSpPr>
          <p:nvPr/>
        </p:nvSpPr>
        <p:spPr>
          <a:xfrm>
            <a:off x="781050" y="6153150"/>
            <a:ext cx="1045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A96500"/>
                </a:solidFill>
              </a:defRPr>
            </a:pPr>
            <a:r>
              <a:rPr sz="1350" b="1">
                <a:solidFill>
                  <a:srgbClr val="A96500"/>
                </a:solidFill>
              </a:rPr>
              <a:t>Controlled: pg_autoctl perform switchover must run only in an approved maintenance window.</a:t>
            </a:r>
          </a:p>
        </p:txBody>
      </p:sp>
    </p:spTree>
    <p:extLst>
      <p:ext uri="{BB962C8B-B14F-4D97-AF65-F5344CB8AC3E}">
        <p14:creationId xmlns:p14="http://schemas.microsoft.com/office/powerpoint/2010/main" val="84821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E9BF353-11DD-4698-A3AC-C740CFA5436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2276BB-A847-4F19-AA7A-A8C7099A712E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09173-4AA2-4B05-B7BA-4232B94E5E1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6A056-9790-4636-A16F-D34D9CA1E69F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Six quick checks explain most operational incidents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1E1CC-0C99-457D-A626-1511951C1C69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Run them with the selected inventory before changing service state.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FA7654-B5ED-4F12-AC0D-5FB6927A0632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5276850" cy="1219200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2B6D3-4793-4CE2-BC97-2375C22507E8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BD990-742C-447C-9AA8-C022353F3A8C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systemctl status pg_autoctl --no-pager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C881FF-2356-482F-96D4-48E8CE99806C}"/>
              </a:ext>
            </a:extLst>
          </p:cNvPr>
          <p:cNvSpPr>
            <a:spLocks noGrp="1"/>
          </p:cNvSpPr>
          <p:nvPr/>
        </p:nvSpPr>
        <p:spPr>
          <a:xfrm>
            <a:off x="857250" y="28670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Monitor and both data nodes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64D74D-085B-4E85-A6AB-16AD9F0246B2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276850" cy="1219200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DB7D4F-8476-4E16-BE86-F6C59FF664C7}"/>
              </a:ext>
            </a:extLst>
          </p:cNvPr>
          <p:cNvSpPr>
            <a:spLocks noGrp="1"/>
          </p:cNvSpPr>
          <p:nvPr/>
        </p:nvSpPr>
        <p:spPr>
          <a:xfrm>
            <a:off x="6400800" y="2076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DATABASE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D2E106-AA72-4705-ACA8-6DE7323CD7A2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pg_isready -h /var/run/postgresql -p 5432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3FF806-358A-41D2-B804-D48E2EBC07C7}"/>
              </a:ext>
            </a:extLst>
          </p:cNvPr>
          <p:cNvSpPr>
            <a:spLocks noGrp="1"/>
          </p:cNvSpPr>
          <p:nvPr/>
        </p:nvSpPr>
        <p:spPr>
          <a:xfrm>
            <a:off x="6400800" y="28670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Local PostgreSQL readiness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404E7C-F065-4CE0-B4FC-F052B29EF59C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5276850" cy="1219200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2DF04-92DC-4A35-B82B-79C3429921AF}"/>
              </a:ext>
            </a:extLst>
          </p:cNvPr>
          <p:cNvSpPr>
            <a:spLocks noGrp="1"/>
          </p:cNvSpPr>
          <p:nvPr/>
        </p:nvSpPr>
        <p:spPr>
          <a:xfrm>
            <a:off x="857250" y="34575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ROUTING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62CBD6-11C3-4E33-8D8B-EBDFB65DAA97}"/>
              </a:ext>
            </a:extLst>
          </p:cNvPr>
          <p:cNvSpPr>
            <a:spLocks noGrp="1"/>
          </p:cNvSpPr>
          <p:nvPr/>
        </p:nvSpPr>
        <p:spPr>
          <a:xfrm>
            <a:off x="857250" y="3743325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systemctl status pgbouncer haproxy keepalived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38DA1B-3435-4339-A106-30B6FD0B9F5D}"/>
              </a:ext>
            </a:extLst>
          </p:cNvPr>
          <p:cNvSpPr>
            <a:spLocks noGrp="1"/>
          </p:cNvSpPr>
          <p:nvPr/>
        </p:nvSpPr>
        <p:spPr>
          <a:xfrm>
            <a:off x="857250" y="42481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Both routing nodes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EBB313-38DD-459D-8C24-C0B93C0A5C36}"/>
              </a:ext>
            </a:extLst>
          </p:cNvPr>
          <p:cNvSpPr>
            <a:spLocks noGrp="1"/>
          </p:cNvSpPr>
          <p:nvPr/>
        </p:nvSpPr>
        <p:spPr>
          <a:xfrm>
            <a:off x="6229350" y="3305175"/>
            <a:ext cx="5276850" cy="1219200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831F27-5611-456B-962A-9E3916DF7150}"/>
              </a:ext>
            </a:extLst>
          </p:cNvPr>
          <p:cNvSpPr>
            <a:spLocks noGrp="1"/>
          </p:cNvSpPr>
          <p:nvPr/>
        </p:nvSpPr>
        <p:spPr>
          <a:xfrm>
            <a:off x="6400800" y="34575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VIP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8B911E-2712-4F99-B21A-2ED73DB47422}"/>
              </a:ext>
            </a:extLst>
          </p:cNvPr>
          <p:cNvSpPr>
            <a:spLocks noGrp="1"/>
          </p:cNvSpPr>
          <p:nvPr/>
        </p:nvSpPr>
        <p:spPr>
          <a:xfrm>
            <a:off x="6400800" y="3743325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ip -brief -4 address show dev &lt;interface&gt;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99DF0C-32BE-417E-A9F0-6AF6B6B8100E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Exactly one VIP owner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8BE322-F127-4362-AA43-C8AB4C208DD0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276850" cy="1219200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E2B08A-643C-4C08-ACC5-00F75FC1DC3B}"/>
              </a:ext>
            </a:extLst>
          </p:cNvPr>
          <p:cNvSpPr>
            <a:spLocks noGrp="1"/>
          </p:cNvSpPr>
          <p:nvPr/>
        </p:nvSpPr>
        <p:spPr>
          <a:xfrm>
            <a:off x="857250" y="4838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TIME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1A6F02-66A8-41C3-88B7-B6365604D2A0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chronyc tracking &amp;&amp; chronyc sources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F522BC-F580-44BB-858A-160D8845EB62}"/>
              </a:ext>
            </a:extLst>
          </p:cNvPr>
          <p:cNvSpPr>
            <a:spLocks noGrp="1"/>
          </p:cNvSpPr>
          <p:nvPr/>
        </p:nvSpPr>
        <p:spPr>
          <a:xfrm>
            <a:off x="857250" y="56292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Normal leap status and active source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51220E-EC40-4EA6-8ABD-AA6388D9025D}"/>
              </a:ext>
            </a:extLst>
          </p:cNvPr>
          <p:cNvSpPr>
            <a:spLocks noGrp="1"/>
          </p:cNvSpPr>
          <p:nvPr/>
        </p:nvSpPr>
        <p:spPr>
          <a:xfrm>
            <a:off x="6229350" y="4686300"/>
            <a:ext cx="5276850" cy="1219200"/>
          </a:xfrm>
          <a:prstGeom prst="roundRect">
            <a:avLst>
              <a:gd name="adj" fmla="val 9375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45B7FE-6D5D-41E6-B6AB-18FF32C67A96}"/>
              </a:ext>
            </a:extLst>
          </p:cNvPr>
          <p:cNvSpPr>
            <a:spLocks noGrp="1"/>
          </p:cNvSpPr>
          <p:nvPr/>
        </p:nvSpPr>
        <p:spPr>
          <a:xfrm>
            <a:off x="6400800" y="4838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E75B6"/>
                </a:solidFill>
              </a:defRPr>
            </a:pPr>
            <a:r>
              <a:rPr sz="1050" b="1">
                <a:solidFill>
                  <a:srgbClr val="2E75B6"/>
                </a:solidFill>
              </a:rPr>
              <a:t>FIREWALL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CBE536-4AAA-4CA9-9FBD-A0D93350E268}"/>
              </a:ext>
            </a:extLst>
          </p:cNvPr>
          <p:cNvSpPr>
            <a:spLocks noGrp="1"/>
          </p:cNvSpPr>
          <p:nvPr/>
        </p:nvSpPr>
        <p:spPr>
          <a:xfrm>
            <a:off x="6400800" y="5124450"/>
            <a:ext cx="4905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sudo ufw status verbose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BA05B0-5B79-4F2F-A267-B9AB0E38ADBC}"/>
              </a:ext>
            </a:extLst>
          </p:cNvPr>
          <p:cNvSpPr>
            <a:spLocks noGrp="1"/>
          </p:cNvSpPr>
          <p:nvPr/>
        </p:nvSpPr>
        <p:spPr>
          <a:xfrm>
            <a:off x="6400800" y="56292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Incoming deny and approved role rules</a:t>
            </a:r>
          </a:p>
        </p:txBody>
      </p:sp>
    </p:spTree>
    <p:extLst>
      <p:ext uri="{BB962C8B-B14F-4D97-AF65-F5344CB8AC3E}">
        <p14:creationId xmlns:p14="http://schemas.microsoft.com/office/powerpoint/2010/main" val="110534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90800D-8F37-40F7-B59B-31D56C8E225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88FD6-41CB-408D-BA14-442064CCBEF3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505A06-A238-4A81-8829-66C0CCE32263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1D420-505E-427D-A8D2-FEB4CF0B5986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Rubrik owns backup and recovery; legacy monitor archiving stays off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D8C044-7F6C-4DF0-A1F4-E973CB5CAA63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The retained /pgdata/WalArchive area is rollback storage, not a concurrent backup path.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616766-213C-4D64-B027-6A1E83055593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6858000" cy="333375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81EEF-956B-4DC3-AD85-493177FBF5A9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D7D5B"/>
                </a:solidFill>
              </a:defRPr>
            </a:pPr>
            <a:r>
              <a:rPr sz="1050" b="1">
                <a:solidFill>
                  <a:srgbClr val="2D7D5B"/>
                </a:solidFill>
              </a:rPr>
              <a:t>CURRENT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EC5F00-D107-4DA8-BBB9-7F626AC3090C}"/>
              </a:ext>
            </a:extLst>
          </p:cNvPr>
          <p:cNvSpPr>
            <a:spLocks noGrp="1"/>
          </p:cNvSpPr>
          <p:nvPr/>
        </p:nvSpPr>
        <p:spPr>
          <a:xfrm>
            <a:off x="990600" y="27908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D7D5B"/>
                </a:solidFill>
              </a:defRPr>
            </a:pPr>
            <a:r>
              <a:rPr sz="1500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9C44CB-1F7D-48EF-BD91-77989DE7712F}"/>
              </a:ext>
            </a:extLst>
          </p:cNvPr>
          <p:cNvSpPr>
            <a:spLocks noGrp="1"/>
          </p:cNvSpPr>
          <p:nvPr/>
        </p:nvSpPr>
        <p:spPr>
          <a:xfrm>
            <a:off x="1276350" y="28003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Rubrik provides the approved base backup and recovery points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2F4D87-C207-43ED-BAEA-6B481E9D3791}"/>
              </a:ext>
            </a:extLst>
          </p:cNvPr>
          <p:cNvSpPr>
            <a:spLocks noGrp="1"/>
          </p:cNvSpPr>
          <p:nvPr/>
        </p:nvSpPr>
        <p:spPr>
          <a:xfrm>
            <a:off x="990600" y="3495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D7D5B"/>
                </a:solidFill>
              </a:defRPr>
            </a:pPr>
            <a:r>
              <a:rPr sz="1500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19E8CC-205B-4139-9466-9BE824FD1D54}"/>
              </a:ext>
            </a:extLst>
          </p:cNvPr>
          <p:cNvSpPr>
            <a:spLocks noGrp="1"/>
          </p:cNvSpPr>
          <p:nvPr/>
        </p:nvSpPr>
        <p:spPr>
          <a:xfrm>
            <a:off x="1276350" y="350520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Ansible validates that the legacy archive-wal command is absent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854EE-4865-48CD-A613-988934710377}"/>
              </a:ext>
            </a:extLst>
          </p:cNvPr>
          <p:cNvSpPr>
            <a:spLocks noGrp="1"/>
          </p:cNvSpPr>
          <p:nvPr/>
        </p:nvSpPr>
        <p:spPr>
          <a:xfrm>
            <a:off x="990600" y="42005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D7D5B"/>
                </a:solidFill>
              </a:defRPr>
            </a:pPr>
            <a:r>
              <a:rPr sz="1500" b="1">
                <a:solidFill>
                  <a:srgbClr val="2D7D5B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8967FD-A4B6-4157-88EF-108D4C75CAC5}"/>
              </a:ext>
            </a:extLst>
          </p:cNvPr>
          <p:cNvSpPr>
            <a:spLocks noGrp="1"/>
          </p:cNvSpPr>
          <p:nvPr/>
        </p:nvSpPr>
        <p:spPr>
          <a:xfrm>
            <a:off x="1276350" y="42100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Restore evidence is generated by an isolated Rubrik recovery exercise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1BB4DC-551E-4250-A533-257752B6E282}"/>
              </a:ext>
            </a:extLst>
          </p:cNvPr>
          <p:cNvSpPr>
            <a:spLocks noGrp="1"/>
          </p:cNvSpPr>
          <p:nvPr/>
        </p:nvSpPr>
        <p:spPr>
          <a:xfrm>
            <a:off x="7962900" y="2076450"/>
            <a:ext cx="3543300" cy="3333750"/>
          </a:xfrm>
          <a:prstGeom prst="roundRect">
            <a:avLst>
              <a:gd name="adj" fmla="val 3429"/>
            </a:avLst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189A72-B964-4470-8A17-E20AB65EAFF7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OPERATOR RULE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DD58B-5D2D-4E1B-8741-12C307D7D7AB}"/>
              </a:ext>
            </a:extLst>
          </p:cNvPr>
          <p:cNvSpPr>
            <a:spLocks noGrp="1"/>
          </p:cNvSpPr>
          <p:nvPr/>
        </p:nvSpPr>
        <p:spPr>
          <a:xfrm>
            <a:off x="8248650" y="2933700"/>
            <a:ext cx="2952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 not run the legacy monitor SSH WAL archive at the same time as Rubrik-managed archiving.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0488A5-AD07-4DFE-94AA-45310ABCE852}"/>
              </a:ext>
            </a:extLst>
          </p:cNvPr>
          <p:cNvSpPr>
            <a:spLocks noGrp="1"/>
          </p:cNvSpPr>
          <p:nvPr/>
        </p:nvSpPr>
        <p:spPr>
          <a:xfrm>
            <a:off x="8248650" y="4552950"/>
            <a:ext cx="295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DE8F5"/>
                </a:solidFill>
              </a:defRPr>
            </a:pPr>
            <a:r>
              <a:rPr sz="1275" b="0">
                <a:solidFill>
                  <a:srgbClr val="DDE8F5"/>
                </a:solidFill>
              </a:rPr>
              <a:t>Backup success is proven in Rubrik—not by Ansible health output alone.</a:t>
            </a:r>
          </a:p>
        </p:txBody>
      </p:sp>
    </p:spTree>
    <p:extLst>
      <p:ext uri="{BB962C8B-B14F-4D97-AF65-F5344CB8AC3E}">
        <p14:creationId xmlns:p14="http://schemas.microsoft.com/office/powerpoint/2010/main" val="1616915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F73790A-9979-4259-B5D1-0E521733231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57200" cy="38100"/>
          </a:xfrm>
          <a:prstGeom prst="rect">
            <a:avLst/>
          </a:prstGeom>
          <a:solidFill>
            <a:srgbClr val="2E75B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1A192-E0D2-45CE-B903-0C2B8F7887F7}"/>
              </a:ext>
            </a:extLst>
          </p:cNvPr>
          <p:cNvSpPr>
            <a:spLocks noGrp="1"/>
          </p:cNvSpPr>
          <p:nvPr/>
        </p:nvSpPr>
        <p:spPr>
          <a:xfrm>
            <a:off x="1257300" y="3048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KNOWLEDGE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5377A1-A18D-43B9-9889-89CEC150668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E6B7A"/>
                </a:solidFill>
              </a:defRPr>
            </a:pPr>
            <a:r>
              <a:rPr sz="1050" b="0">
                <a:solidFill>
                  <a:srgbClr val="5E6B7A"/>
                </a:solidFill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FD4F4-BB3E-4FE4-A8BB-BE6C93F4EFE9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client team is ready when it can operate without guesswork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4DAF9-BFBA-4508-8FA4-2CDE93EB2F9D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Use the repository as the control plane and the monitor as the authority for database roles.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68BA9F-296C-487E-A7B7-FBAADE808ECA}"/>
              </a:ext>
            </a:extLst>
          </p:cNvPr>
          <p:cNvSpPr>
            <a:spLocks noGrp="1"/>
          </p:cNvSpPr>
          <p:nvPr/>
        </p:nvSpPr>
        <p:spPr>
          <a:xfrm>
            <a:off x="1143000" y="20764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7D5B"/>
                </a:solidFill>
              </a:defRPr>
            </a:pPr>
            <a:r>
              <a:rPr sz="210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E8E0A7-CEC0-492B-8F3B-D14BDF056B91}"/>
              </a:ext>
            </a:extLst>
          </p:cNvPr>
          <p:cNvSpPr>
            <a:spLocks noGrp="1"/>
          </p:cNvSpPr>
          <p:nvPr/>
        </p:nvSpPr>
        <p:spPr>
          <a:xfrm>
            <a:off x="1676400" y="20764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Select and prove the correct UAT or Production inventory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9643B-1469-485B-978C-CFEC671E0D4F}"/>
              </a:ext>
            </a:extLst>
          </p:cNvPr>
          <p:cNvSpPr>
            <a:spLocks noGrp="1"/>
          </p:cNvSpPr>
          <p:nvPr/>
        </p:nvSpPr>
        <p:spPr>
          <a:xfrm>
            <a:off x="1143000" y="27813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7D5B"/>
                </a:solidFill>
              </a:defRPr>
            </a:pPr>
            <a:r>
              <a:rPr sz="210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56897-30D6-41DC-9DF5-E1D1122E30B0}"/>
              </a:ext>
            </a:extLst>
          </p:cNvPr>
          <p:cNvSpPr>
            <a:spLocks noGrp="1"/>
          </p:cNvSpPr>
          <p:nvPr/>
        </p:nvSpPr>
        <p:spPr>
          <a:xfrm>
            <a:off x="1676400" y="27813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Identify the current primary and the current VIP owner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46C105-1A7A-4789-A211-BB6BDBD3174F}"/>
              </a:ext>
            </a:extLst>
          </p:cNvPr>
          <p:cNvSpPr>
            <a:spLocks noGrp="1"/>
          </p:cNvSpPr>
          <p:nvPr/>
        </p:nvSpPr>
        <p:spPr>
          <a:xfrm>
            <a:off x="1143000" y="34861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7D5B"/>
                </a:solidFill>
              </a:defRPr>
            </a:pPr>
            <a:r>
              <a:rPr sz="210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22954-2FCC-40FD-AF40-61BD4CC16BA0}"/>
              </a:ext>
            </a:extLst>
          </p:cNvPr>
          <p:cNvSpPr>
            <a:spLocks noGrp="1"/>
          </p:cNvSpPr>
          <p:nvPr/>
        </p:nvSpPr>
        <p:spPr>
          <a:xfrm>
            <a:off x="1676400" y="34861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Run the read-only health suite and interpret failures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9BF5AD-F330-4599-BFDA-75057A519711}"/>
              </a:ext>
            </a:extLst>
          </p:cNvPr>
          <p:cNvSpPr>
            <a:spLocks noGrp="1"/>
          </p:cNvSpPr>
          <p:nvPr/>
        </p:nvSpPr>
        <p:spPr>
          <a:xfrm>
            <a:off x="1143000" y="41910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7D5B"/>
                </a:solidFill>
              </a:defRPr>
            </a:pPr>
            <a:r>
              <a:rPr sz="210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CD344C-6DF8-4607-935F-F6D96EA92B22}"/>
              </a:ext>
            </a:extLst>
          </p:cNvPr>
          <p:cNvSpPr>
            <a:spLocks noGrp="1"/>
          </p:cNvSpPr>
          <p:nvPr/>
        </p:nvSpPr>
        <p:spPr>
          <a:xfrm>
            <a:off x="1676400" y="41910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Explain which tests require a maintenance window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235769-73E7-432A-AC86-E1D63509FC74}"/>
              </a:ext>
            </a:extLst>
          </p:cNvPr>
          <p:cNvSpPr>
            <a:spLocks noGrp="1"/>
          </p:cNvSpPr>
          <p:nvPr/>
        </p:nvSpPr>
        <p:spPr>
          <a:xfrm>
            <a:off x="1143000" y="48958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7D5B"/>
                </a:solidFill>
              </a:defRPr>
            </a:pPr>
            <a:r>
              <a:rPr sz="2100" b="1">
                <a:solidFill>
                  <a:srgbClr val="2D7D5B"/>
                </a:solidFill>
              </a:rPr>
              <a:t>✓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22E8D4-FA65-4CC6-BBEE-C56DE27606BD}"/>
              </a:ext>
            </a:extLst>
          </p:cNvPr>
          <p:cNvSpPr>
            <a:spLocks noGrp="1"/>
          </p:cNvSpPr>
          <p:nvPr/>
        </p:nvSpPr>
        <p:spPr>
          <a:xfrm>
            <a:off x="1676400" y="48958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Locate detailed recovery and Rubrik runbooks before an incident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09719C-D652-46C0-B27E-938CAFD22844}"/>
              </a:ext>
            </a:extLst>
          </p:cNvPr>
          <p:cNvSpPr>
            <a:spLocks noGrp="1"/>
          </p:cNvSpPr>
          <p:nvPr/>
        </p:nvSpPr>
        <p:spPr>
          <a:xfrm>
            <a:off x="1143000" y="5753100"/>
            <a:ext cx="9525000" cy="19050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FEB835-B5B0-46F6-B5FF-0A07F0BEC6E6}"/>
              </a:ext>
            </a:extLst>
          </p:cNvPr>
          <p:cNvSpPr>
            <a:spLocks noGrp="1"/>
          </p:cNvSpPr>
          <p:nvPr/>
        </p:nvSpPr>
        <p:spPr>
          <a:xfrm>
            <a:off x="1143000" y="59626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E75B6"/>
                </a:solidFill>
              </a:defRPr>
            </a:pPr>
            <a:r>
              <a:rPr sz="1650" b="1">
                <a:solidFill>
                  <a:srgbClr val="2E75B6"/>
                </a:solidFill>
              </a:rPr>
              <a:t>Questions, ownership confirmation and open actions</a:t>
            </a:r>
          </a:p>
        </p:txBody>
      </p:sp>
    </p:spTree>
    <p:extLst>
      <p:ext uri="{BB962C8B-B14F-4D97-AF65-F5344CB8AC3E}">
        <p14:creationId xmlns:p14="http://schemas.microsoft.com/office/powerpoint/2010/main" val="13170610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Microsoft Office PowerPoint</Application>
  <DocSecurity>0</DocSecurity>
  <PresentationFormat>Widescreen</PresentationFormat>
  <Paragraphs>311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Kavit Munshi</cp:lastModifiedBy>
  <cp:revision>2</cp:revision>
  <dcterms:created xsi:type="dcterms:W3CDTF">2026-08-24T14:20:35Z</dcterms:created>
  <dcterms:modified xsi:type="dcterms:W3CDTF">2026-08-24T16:00:24Z</dcterms:modified>
</cp:coreProperties>
</file>