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2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Repository: DB_BACKUP_AND_RECOVERY_RUNBOOK.md</a:t>
            </a:r>
          </a:p>
          <a:p>
            <a:r>
              <a:t>- Repository: SYSTEM_ARCHITECTURE_AND_RECOVERY.md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Repository: DB_BACKUP_AND_RECOVERY_RUNBOOK.md</a:t>
            </a:r>
          </a:p>
          <a:p>
            <a:r>
              <a:t>- https://www.postgresql.org/docs/18/continuous-archiving.html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Repository: DB_BACKUP_AND_RECOVERY_RUNBOOK.md</a:t>
            </a:r>
          </a:p>
          <a:p>
            <a:r>
              <a:rPr dirty="0"/>
              <a:t>- https://www.postgresql.org/docs/18/continuous-archiving.html</a:t>
            </a:r>
          </a:p>
          <a:p>
            <a:r>
              <a:rPr dirty="0"/>
              <a:t>- https://www.postgresql.org/docs/18/app-pgbasebackup.html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present this option as supported until Rubrik confirms the exact version and architecture in writing.</a:t>
            </a:r>
          </a:p>
          <a:p>
            <a:endParaRPr/>
          </a:p>
          <a:p>
            <a:r>
              <a:t>[Sources]</a:t>
            </a:r>
          </a:p>
          <a:p>
            <a:r>
              <a:t>- https://docs.rubrik.com/en-us/compat_matrix/compat_matrix/cm_postgresql_protection.html</a:t>
            </a:r>
          </a:p>
          <a:p>
            <a:r>
              <a:t>- https://docs.rubrik.com/en-us/saas/postgresql/postgresql.html</a:t>
            </a:r>
          </a:p>
          <a:p>
            <a:r>
              <a:t>- https://developer.rubrik.com/Rubrik-Security-Cloud-API/Data-Protection/Data-Center/PostgreSQL/</a:t>
            </a:r>
          </a:p>
          <a:p>
            <a:r>
              <a:t>- Repository: DB_BACKUP_AND_RECOVERY_RUNBOOK.md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https://docs.rubrik.com/en-us/saas/postgresql/postgresql.html</a:t>
            </a:r>
          </a:p>
          <a:p>
            <a:r>
              <a:t>- https://docs.rubrik.com/en-us/saas/postgresql/postgresql_protection_prereq.html</a:t>
            </a:r>
          </a:p>
          <a:p>
            <a:r>
              <a:t>- https://docs.rubrik.com/en-us/saas/postgresql/postgresql_limitations.html</a:t>
            </a:r>
          </a:p>
          <a:p>
            <a:r>
              <a:t>- https://developer.rubrik.com/Rubrik-Security-Cloud-API/Data-Protection/Data-Center/PostgreSQL/</a:t>
            </a:r>
          </a:p>
          <a:p>
            <a:r>
              <a:t>- Repository: DB_BACKUP_AND_RECOVERY_RUNBOOK.md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Repository: DB_BACKUP_AND_RECOVERY_RUNBOOK.md</a:t>
            </a:r>
          </a:p>
          <a:p>
            <a:r>
              <a:t>- Repository: SYSTEM_ARCHITECTURE_AND_RECOVERY.md</a:t>
            </a:r>
          </a:p>
          <a:p>
            <a:r>
              <a:t>- https://www.postgresql.org/docs/18/continuous-archiving.html</a:t>
            </a:r>
          </a:p>
          <a:p>
            <a:r>
              <a:t>- https://www.postgresql.org/docs/18/app-pgbasebackup.html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Repository: DB_BACKUP_AND_RECOVERY_RUNBOOK.md</a:t>
            </a:r>
          </a:p>
          <a:p>
            <a:r>
              <a:t>- https://docs.rubrik.com/en-us/saas/postgresql/postgresql.html</a:t>
            </a:r>
          </a:p>
          <a:p>
            <a:r>
              <a:t>- https://docs.rubrik.com/en-us/saas/postgresql/postgresql_limitations.html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Repository: DB_BACKUP_AND_RECOVERY_RUNBOOK.md</a:t>
            </a:r>
          </a:p>
          <a:p>
            <a:r>
              <a:t>- Repository: SYSTEM_ARCHITECTURE_AND_RECOVERY.md</a:t>
            </a:r>
          </a:p>
          <a:p>
            <a:r>
              <a:t>- https://www.postgresql.org/docs/18/continuous-archiving.html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Repository: DB_BACKUP_AND_RECOVERY_RUNBOOK.md</a:t>
            </a:r>
          </a:p>
          <a:p>
            <a:r>
              <a:t>- https://developer.rubrik.com/Rubrik-Security-Cloud-API/Data-Protection/Data-Center/PostgreSQL/</a:t>
            </a:r>
          </a:p>
          <a:p>
            <a:r>
              <a:t>- https://www.postgresql.org/docs/18/continuous-archiving.html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https://docs.rubrik.com/en-us/compat_matrix/compat_matrix/cm_postgresql_protection.html</a:t>
            </a:r>
          </a:p>
          <a:p>
            <a:r>
              <a:t>- Repository: DB_BACKUP_AND_RECOVERY_RUNBOOK.md</a:t>
            </a:r>
          </a:p>
          <a:p>
            <a:r>
              <a:t>- https://www.postgresql.org/docs/18/continuous-archiving.html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-1">
            <a:extLst>
              <a:ext uri="{FF2B5EF4-FFF2-40B4-BE49-F238E27FC236}">
                <a16:creationId xmlns:a16="http://schemas.microsoft.com/office/drawing/2014/main" id="{39E0FA0C-9452-48AE-92E5-7AF816E68600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EXECUTIVE DECISION BRIEF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4B911C78-A752-4D13-A31D-5B18A4C6C9F3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8572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PostgreSQL HA</a:t>
            </a:r>
          </a:p>
          <a:p>
            <a:pPr algn="l">
              <a:defRPr sz="42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backup and recovery options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A593720-9CB4-4C60-A183-CEEB7DBE3C1B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5962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9A6FCFD1-D2C4-403B-BC21-7EA7E62DBC2D}"/>
              </a:ext>
            </a:extLst>
          </p:cNvPr>
          <p:cNvSpPr>
            <a:spLocks noGrp="1"/>
          </p:cNvSpPr>
          <p:nvPr/>
        </p:nvSpPr>
        <p:spPr>
          <a:xfrm>
            <a:off x="533400" y="5143500"/>
            <a:ext cx="1112520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over-footer">
            <a:extLst>
              <a:ext uri="{FF2B5EF4-FFF2-40B4-BE49-F238E27FC236}">
                <a16:creationId xmlns:a16="http://schemas.microsoft.com/office/drawing/2014/main" id="{52E94100-5876-4E15-8DDD-E6E79A276D48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PostgreSQL 18 • </a:t>
            </a:r>
            <a:r>
              <a:rPr sz="1350" b="0" dirty="0" err="1">
                <a:solidFill>
                  <a:srgbClr val="596273"/>
                </a:solidFill>
                <a:latin typeface="Arial"/>
                <a:ea typeface="Arial"/>
                <a:cs typeface="Arial"/>
              </a:rPr>
              <a:t>pg_auto_failover</a:t>
            </a: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 • Rubrik • Ansible</a:t>
            </a:r>
          </a:p>
        </p:txBody>
      </p:sp>
      <p:sp>
        <p:nvSpPr>
          <p:cNvPr id="6" name="cover-date">
            <a:extLst>
              <a:ext uri="{FF2B5EF4-FFF2-40B4-BE49-F238E27FC236}">
                <a16:creationId xmlns:a16="http://schemas.microsoft.com/office/drawing/2014/main" id="{72BE2CDD-1437-4B5D-9274-E212AC0BC3F7}"/>
              </a:ext>
            </a:extLst>
          </p:cNvPr>
          <p:cNvSpPr>
            <a:spLocks noGrp="1"/>
          </p:cNvSpPr>
          <p:nvPr/>
        </p:nvSpPr>
        <p:spPr>
          <a:xfrm>
            <a:off x="8572500" y="5572125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Decision support | August 2026</a:t>
            </a:r>
          </a:p>
        </p:txBody>
      </p:sp>
    </p:spTree>
    <p:extLst>
      <p:ext uri="{BB962C8B-B14F-4D97-AF65-F5344CB8AC3E}">
        <p14:creationId xmlns:p14="http://schemas.microsoft.com/office/powerpoint/2010/main" val="69249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3EE55AD5-C57F-406E-BE50-367FCF027A6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Three operating models; one proof standard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E44E4458-C178-4556-B1CF-D882E29AAEA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6046790F-BAD3-4E58-A398-06E2C89783C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s2-lead">
            <a:extLst>
              <a:ext uri="{FF2B5EF4-FFF2-40B4-BE49-F238E27FC236}">
                <a16:creationId xmlns:a16="http://schemas.microsoft.com/office/drawing/2014/main" id="{4A70E3C7-6A72-4A73-9C3A-B063B2991298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The decision is about ownership and orchestration—not whether base backups and WAL are required.</a:t>
            </a:r>
          </a:p>
        </p:txBody>
      </p:sp>
      <p:sp>
        <p:nvSpPr>
          <p:cNvPr id="5" name="option-1-top">
            <a:extLst>
              <a:ext uri="{FF2B5EF4-FFF2-40B4-BE49-F238E27FC236}">
                <a16:creationId xmlns:a16="http://schemas.microsoft.com/office/drawing/2014/main" id="{6DF0886C-AA01-41A7-86B0-00FAE167E8CC}"/>
              </a:ext>
            </a:extLst>
          </p:cNvPr>
          <p:cNvSpPr>
            <a:spLocks noGrp="1"/>
          </p:cNvSpPr>
          <p:nvPr/>
        </p:nvSpPr>
        <p:spPr>
          <a:xfrm>
            <a:off x="533400" y="1905000"/>
            <a:ext cx="76200" cy="29527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option-1-number">
            <a:extLst>
              <a:ext uri="{FF2B5EF4-FFF2-40B4-BE49-F238E27FC236}">
                <a16:creationId xmlns:a16="http://schemas.microsoft.com/office/drawing/2014/main" id="{1BD57D58-9E6F-4EC9-8848-45B148C52F02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option-1-heading">
            <a:extLst>
              <a:ext uri="{FF2B5EF4-FFF2-40B4-BE49-F238E27FC236}">
                <a16:creationId xmlns:a16="http://schemas.microsoft.com/office/drawing/2014/main" id="{DC72DB44-CCFC-410E-95D0-DA7A8AB7884A}"/>
              </a:ext>
            </a:extLst>
          </p:cNvPr>
          <p:cNvSpPr>
            <a:spLocks noGrp="1"/>
          </p:cNvSpPr>
          <p:nvPr/>
        </p:nvSpPr>
        <p:spPr>
          <a:xfrm>
            <a:off x="781050" y="241935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Rubrik with native HA integration</a:t>
            </a:r>
          </a:p>
        </p:txBody>
      </p:sp>
      <p:sp>
        <p:nvSpPr>
          <p:cNvPr id="8" name="option-1-body">
            <a:extLst>
              <a:ext uri="{FF2B5EF4-FFF2-40B4-BE49-F238E27FC236}">
                <a16:creationId xmlns:a16="http://schemas.microsoft.com/office/drawing/2014/main" id="{1BE46834-4B41-4845-B517-41EE5E7D9C67}"/>
              </a:ext>
            </a:extLst>
          </p:cNvPr>
          <p:cNvSpPr>
            <a:spLocks noGrp="1"/>
          </p:cNvSpPr>
          <p:nvPr/>
        </p:nvSpPr>
        <p:spPr>
          <a:xfrm>
            <a:off x="781050" y="3467100"/>
            <a:ext cx="304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Potentially product-led end to end. Conditional on PostgreSQL 18 and </a:t>
            </a:r>
            <a:r>
              <a:rPr sz="1350" b="0" dirty="0" err="1">
                <a:solidFill>
                  <a:srgbClr val="596273"/>
                </a:solidFill>
                <a:latin typeface="Arial"/>
                <a:ea typeface="Arial"/>
                <a:cs typeface="Arial"/>
              </a:rPr>
              <a:t>pg_auto_failover</a:t>
            </a: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 support being confirmed and proven.</a:t>
            </a:r>
          </a:p>
        </p:txBody>
      </p:sp>
      <p:sp>
        <p:nvSpPr>
          <p:cNvPr id="9" name="option-2-top">
            <a:extLst>
              <a:ext uri="{FF2B5EF4-FFF2-40B4-BE49-F238E27FC236}">
                <a16:creationId xmlns:a16="http://schemas.microsoft.com/office/drawing/2014/main" id="{CC86B8CC-FD7D-4290-9215-15DAD0D13B08}"/>
              </a:ext>
            </a:extLst>
          </p:cNvPr>
          <p:cNvSpPr>
            <a:spLocks noGrp="1"/>
          </p:cNvSpPr>
          <p:nvPr/>
        </p:nvSpPr>
        <p:spPr>
          <a:xfrm>
            <a:off x="4286250" y="1905000"/>
            <a:ext cx="76200" cy="29527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0" name="option-2-number">
            <a:extLst>
              <a:ext uri="{FF2B5EF4-FFF2-40B4-BE49-F238E27FC236}">
                <a16:creationId xmlns:a16="http://schemas.microsoft.com/office/drawing/2014/main" id="{0430B4E6-56B1-424B-8CD5-85A9EDA3BD34}"/>
              </a:ext>
            </a:extLst>
          </p:cNvPr>
          <p:cNvSpPr>
            <a:spLocks noGrp="1"/>
          </p:cNvSpPr>
          <p:nvPr/>
        </p:nvSpPr>
        <p:spPr>
          <a:xfrm>
            <a:off x="4533900" y="18859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option-2-heading">
            <a:extLst>
              <a:ext uri="{FF2B5EF4-FFF2-40B4-BE49-F238E27FC236}">
                <a16:creationId xmlns:a16="http://schemas.microsoft.com/office/drawing/2014/main" id="{8D73DC53-FA86-4B40-AACB-322CFAE21E17}"/>
              </a:ext>
            </a:extLst>
          </p:cNvPr>
          <p:cNvSpPr>
            <a:spLocks noGrp="1"/>
          </p:cNvSpPr>
          <p:nvPr/>
        </p:nvSpPr>
        <p:spPr>
          <a:xfrm>
            <a:off x="4533900" y="241935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Rubrik without native HA integration</a:t>
            </a:r>
          </a:p>
        </p:txBody>
      </p:sp>
      <p:sp>
        <p:nvSpPr>
          <p:cNvPr id="12" name="option-2-body">
            <a:extLst>
              <a:ext uri="{FF2B5EF4-FFF2-40B4-BE49-F238E27FC236}">
                <a16:creationId xmlns:a16="http://schemas.microsoft.com/office/drawing/2014/main" id="{2C6FA969-BCED-47D8-88FA-14D374EB60E3}"/>
              </a:ext>
            </a:extLst>
          </p:cNvPr>
          <p:cNvSpPr>
            <a:spLocks noGrp="1"/>
          </p:cNvSpPr>
          <p:nvPr/>
        </p:nvSpPr>
        <p:spPr>
          <a:xfrm>
            <a:off x="4662121" y="3467100"/>
            <a:ext cx="304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Central protection with explicit DBA orchestration for primary changes, monitor recovery, fencing, and cluster rejoin.</a:t>
            </a:r>
          </a:p>
        </p:txBody>
      </p:sp>
      <p:sp>
        <p:nvSpPr>
          <p:cNvPr id="13" name="option-3-top">
            <a:extLst>
              <a:ext uri="{FF2B5EF4-FFF2-40B4-BE49-F238E27FC236}">
                <a16:creationId xmlns:a16="http://schemas.microsoft.com/office/drawing/2014/main" id="{88F77D4C-0E78-4B5A-AC30-D8A2AE1A415A}"/>
              </a:ext>
            </a:extLst>
          </p:cNvPr>
          <p:cNvSpPr>
            <a:spLocks noGrp="1"/>
          </p:cNvSpPr>
          <p:nvPr/>
        </p:nvSpPr>
        <p:spPr>
          <a:xfrm>
            <a:off x="8039100" y="1905000"/>
            <a:ext cx="76200" cy="2952750"/>
          </a:xfrm>
          <a:prstGeom prst="rect">
            <a:avLst/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14" name="option-3-number">
            <a:extLst>
              <a:ext uri="{FF2B5EF4-FFF2-40B4-BE49-F238E27FC236}">
                <a16:creationId xmlns:a16="http://schemas.microsoft.com/office/drawing/2014/main" id="{E05E5486-05ED-4D65-90E0-42D4E3321C13}"/>
              </a:ext>
            </a:extLst>
          </p:cNvPr>
          <p:cNvSpPr>
            <a:spLocks noGrp="1"/>
          </p:cNvSpPr>
          <p:nvPr/>
        </p:nvSpPr>
        <p:spPr>
          <a:xfrm>
            <a:off x="8286750" y="18859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option-3-heading">
            <a:extLst>
              <a:ext uri="{FF2B5EF4-FFF2-40B4-BE49-F238E27FC236}">
                <a16:creationId xmlns:a16="http://schemas.microsoft.com/office/drawing/2014/main" id="{670A9CBE-FC2F-4153-9167-4B4AAD35CD01}"/>
              </a:ext>
            </a:extLst>
          </p:cNvPr>
          <p:cNvSpPr>
            <a:spLocks noGrp="1"/>
          </p:cNvSpPr>
          <p:nvPr/>
        </p:nvSpPr>
        <p:spPr>
          <a:xfrm>
            <a:off x="8286750" y="241935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Ansible WAL plus manual base backup</a:t>
            </a:r>
          </a:p>
        </p:txBody>
      </p:sp>
      <p:sp>
        <p:nvSpPr>
          <p:cNvPr id="16" name="option-3-body">
            <a:extLst>
              <a:ext uri="{FF2B5EF4-FFF2-40B4-BE49-F238E27FC236}">
                <a16:creationId xmlns:a16="http://schemas.microsoft.com/office/drawing/2014/main" id="{9D1B02DF-FC89-4D9C-ADE0-CB89CC4DD046}"/>
              </a:ext>
            </a:extLst>
          </p:cNvPr>
          <p:cNvSpPr>
            <a:spLocks noGrp="1"/>
          </p:cNvSpPr>
          <p:nvPr/>
        </p:nvSpPr>
        <p:spPr>
          <a:xfrm>
            <a:off x="8286750" y="3467100"/>
            <a:ext cx="304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lang="en-IN"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Largest </a:t>
            </a: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internal engineering</a:t>
            </a:r>
            <a:r>
              <a:rPr lang="en-IN"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 requirements</a:t>
            </a:r>
            <a:r>
              <a:rPr sz="1350" b="0" dirty="0">
                <a:solidFill>
                  <a:srgbClr val="596273"/>
                </a:solidFill>
                <a:latin typeface="Arial"/>
                <a:ea typeface="Arial"/>
                <a:cs typeface="Arial"/>
              </a:rPr>
              <a:t>, operations, and assurance burden.</a:t>
            </a:r>
          </a:p>
        </p:txBody>
      </p:sp>
      <p:sp>
        <p:nvSpPr>
          <p:cNvPr id="17" name="s2-bottom">
            <a:extLst>
              <a:ext uri="{FF2B5EF4-FFF2-40B4-BE49-F238E27FC236}">
                <a16:creationId xmlns:a16="http://schemas.microsoft.com/office/drawing/2014/main" id="{3F733871-8B3F-4C1D-A1A0-6C36F775201A}"/>
              </a:ext>
            </a:extLst>
          </p:cNvPr>
          <p:cNvSpPr>
            <a:spLocks noGrp="1"/>
          </p:cNvSpPr>
          <p:nvPr/>
        </p:nvSpPr>
        <p:spPr>
          <a:xfrm>
            <a:off x="533400" y="5486400"/>
            <a:ext cx="11125200" cy="5905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18" name="s2-bottom-text">
            <a:extLst>
              <a:ext uri="{FF2B5EF4-FFF2-40B4-BE49-F238E27FC236}">
                <a16:creationId xmlns:a16="http://schemas.microsoft.com/office/drawing/2014/main" id="{11C9701F-1CD4-47C2-BB01-8198C14AB5E4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option is accepted until an isolated restore proves the recovery chain and measures RPO/RTO.</a:t>
            </a:r>
          </a:p>
        </p:txBody>
      </p:sp>
    </p:spTree>
    <p:extLst>
      <p:ext uri="{BB962C8B-B14F-4D97-AF65-F5344CB8AC3E}">
        <p14:creationId xmlns:p14="http://schemas.microsoft.com/office/powerpoint/2010/main" val="59126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3">
            <a:extLst>
              <a:ext uri="{FF2B5EF4-FFF2-40B4-BE49-F238E27FC236}">
                <a16:creationId xmlns:a16="http://schemas.microsoft.com/office/drawing/2014/main" id="{F13D202C-85F7-42D5-9FFA-9E697A1EF9A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HA keeps service running; backup reverses damage</a:t>
            </a:r>
          </a:p>
        </p:txBody>
      </p:sp>
      <p:sp>
        <p:nvSpPr>
          <p:cNvPr id="2" name="title-rule-3">
            <a:extLst>
              <a:ext uri="{FF2B5EF4-FFF2-40B4-BE49-F238E27FC236}">
                <a16:creationId xmlns:a16="http://schemas.microsoft.com/office/drawing/2014/main" id="{F1A54A1F-1589-49A2-AE52-46CBBDF4C22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A55B4A07-64CF-4F19-9C60-CD8A79583EC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3-lead">
            <a:extLst>
              <a:ext uri="{FF2B5EF4-FFF2-40B4-BE49-F238E27FC236}">
                <a16:creationId xmlns:a16="http://schemas.microsoft.com/office/drawing/2014/main" id="{E2B49A3B-8FB2-4CF2-AEAD-42E803CA115F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Replication alone reproduces logical corruption. WAL alone cannot rebuild a cluster.</a:t>
            </a:r>
          </a:p>
        </p:txBody>
      </p:sp>
      <p:sp>
        <p:nvSpPr>
          <p:cNvPr id="5" name="s3-arrow-332">
            <a:extLst>
              <a:ext uri="{FF2B5EF4-FFF2-40B4-BE49-F238E27FC236}">
                <a16:creationId xmlns:a16="http://schemas.microsoft.com/office/drawing/2014/main" id="{BFE810F8-101E-4545-AE39-5678B0AF3B9F}"/>
              </a:ext>
            </a:extLst>
          </p:cNvPr>
          <p:cNvSpPr>
            <a:spLocks noGrp="1"/>
          </p:cNvSpPr>
          <p:nvPr/>
        </p:nvSpPr>
        <p:spPr>
          <a:xfrm>
            <a:off x="3162300" y="2952750"/>
            <a:ext cx="685800" cy="4000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s3-arrow-650">
            <a:extLst>
              <a:ext uri="{FF2B5EF4-FFF2-40B4-BE49-F238E27FC236}">
                <a16:creationId xmlns:a16="http://schemas.microsoft.com/office/drawing/2014/main" id="{045E86E4-046C-4BCE-A748-A38BC6013AD7}"/>
              </a:ext>
            </a:extLst>
          </p:cNvPr>
          <p:cNvSpPr>
            <a:spLocks noGrp="1"/>
          </p:cNvSpPr>
          <p:nvPr/>
        </p:nvSpPr>
        <p:spPr>
          <a:xfrm>
            <a:off x="6191250" y="2952750"/>
            <a:ext cx="685800" cy="4000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7" name="s3-arrow-968">
            <a:extLst>
              <a:ext uri="{FF2B5EF4-FFF2-40B4-BE49-F238E27FC236}">
                <a16:creationId xmlns:a16="http://schemas.microsoft.com/office/drawing/2014/main" id="{618F7E87-E030-44F6-ACAF-6FC6E1FEB011}"/>
              </a:ext>
            </a:extLst>
          </p:cNvPr>
          <p:cNvSpPr>
            <a:spLocks noGrp="1"/>
          </p:cNvSpPr>
          <p:nvPr/>
        </p:nvSpPr>
        <p:spPr>
          <a:xfrm>
            <a:off x="9220200" y="2952750"/>
            <a:ext cx="685800" cy="4000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8" name="s3-node-0">
            <a:extLst>
              <a:ext uri="{FF2B5EF4-FFF2-40B4-BE49-F238E27FC236}">
                <a16:creationId xmlns:a16="http://schemas.microsoft.com/office/drawing/2014/main" id="{8EB62824-5424-4A2C-850C-C9F3396E4ED0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2266950" cy="1733550"/>
          </a:xfrm>
          <a:prstGeom prst="rect">
            <a:avLst/>
          </a:prstGeom>
          <a:solidFill>
            <a:srgbClr val="F5F7F9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s3-node-title-0">
            <a:extLst>
              <a:ext uri="{FF2B5EF4-FFF2-40B4-BE49-F238E27FC236}">
                <a16:creationId xmlns:a16="http://schemas.microsoft.com/office/drawing/2014/main" id="{43F1B2E4-397F-4A99-B972-523091193E48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188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Base backup</a:t>
            </a:r>
          </a:p>
        </p:txBody>
      </p:sp>
      <p:sp>
        <p:nvSpPr>
          <p:cNvPr id="10" name="s3-node-body-0">
            <a:extLst>
              <a:ext uri="{FF2B5EF4-FFF2-40B4-BE49-F238E27FC236}">
                <a16:creationId xmlns:a16="http://schemas.microsoft.com/office/drawing/2014/main" id="{E5FE6C8E-B2FC-447D-A6A6-01F4C6D3D961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 consistent physical starting point</a:t>
            </a:r>
          </a:p>
        </p:txBody>
      </p:sp>
      <p:sp>
        <p:nvSpPr>
          <p:cNvPr id="11" name="s3-node-1">
            <a:extLst>
              <a:ext uri="{FF2B5EF4-FFF2-40B4-BE49-F238E27FC236}">
                <a16:creationId xmlns:a16="http://schemas.microsoft.com/office/drawing/2014/main" id="{7F460D75-0366-411F-863E-F9FD7A0013D6}"/>
              </a:ext>
            </a:extLst>
          </p:cNvPr>
          <p:cNvSpPr>
            <a:spLocks noGrp="1"/>
          </p:cNvSpPr>
          <p:nvPr/>
        </p:nvSpPr>
        <p:spPr>
          <a:xfrm>
            <a:off x="3562350" y="2305050"/>
            <a:ext cx="2266950" cy="1733550"/>
          </a:xfrm>
          <a:prstGeom prst="rect">
            <a:avLst/>
          </a:prstGeom>
          <a:solidFill>
            <a:srgbClr val="EAF7FC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s3-node-title-1">
            <a:extLst>
              <a:ext uri="{FF2B5EF4-FFF2-40B4-BE49-F238E27FC236}">
                <a16:creationId xmlns:a16="http://schemas.microsoft.com/office/drawing/2014/main" id="{5AE4F7B5-291D-4BD0-8BB8-A4C7C69BC35A}"/>
              </a:ext>
            </a:extLst>
          </p:cNvPr>
          <p:cNvSpPr>
            <a:spLocks noGrp="1"/>
          </p:cNvSpPr>
          <p:nvPr/>
        </p:nvSpPr>
        <p:spPr>
          <a:xfrm>
            <a:off x="3752850" y="2571750"/>
            <a:ext cx="188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WAL chain</a:t>
            </a:r>
          </a:p>
        </p:txBody>
      </p:sp>
      <p:sp>
        <p:nvSpPr>
          <p:cNvPr id="13" name="s3-node-body-1">
            <a:extLst>
              <a:ext uri="{FF2B5EF4-FFF2-40B4-BE49-F238E27FC236}">
                <a16:creationId xmlns:a16="http://schemas.microsoft.com/office/drawing/2014/main" id="{C39A2F62-ABE6-402C-BE66-B7C8EDFA53E8}"/>
              </a:ext>
            </a:extLst>
          </p:cNvPr>
          <p:cNvSpPr>
            <a:spLocks noGrp="1"/>
          </p:cNvSpPr>
          <p:nvPr/>
        </p:nvSpPr>
        <p:spPr>
          <a:xfrm>
            <a:off x="3752850" y="310515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Every required segment and timeline</a:t>
            </a:r>
          </a:p>
        </p:txBody>
      </p:sp>
      <p:sp>
        <p:nvSpPr>
          <p:cNvPr id="14" name="s3-node-2">
            <a:extLst>
              <a:ext uri="{FF2B5EF4-FFF2-40B4-BE49-F238E27FC236}">
                <a16:creationId xmlns:a16="http://schemas.microsoft.com/office/drawing/2014/main" id="{3022E7CD-CB1A-461F-AEBF-963FF386BE3D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2266950" cy="1733550"/>
          </a:xfrm>
          <a:prstGeom prst="rect">
            <a:avLst/>
          </a:prstGeom>
          <a:solidFill>
            <a:srgbClr val="F5F7F9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s3-node-title-2">
            <a:extLst>
              <a:ext uri="{FF2B5EF4-FFF2-40B4-BE49-F238E27FC236}">
                <a16:creationId xmlns:a16="http://schemas.microsoft.com/office/drawing/2014/main" id="{A29F8C06-49D3-4CBE-9C84-B72B04CAA8E4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188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Isolated restore</a:t>
            </a:r>
          </a:p>
        </p:txBody>
      </p:sp>
      <p:sp>
        <p:nvSpPr>
          <p:cNvPr id="16" name="s3-node-body-2">
            <a:extLst>
              <a:ext uri="{FF2B5EF4-FFF2-40B4-BE49-F238E27FC236}">
                <a16:creationId xmlns:a16="http://schemas.microsoft.com/office/drawing/2014/main" id="{F3C9648A-F0E2-4D3E-887D-53547DD53794}"/>
              </a:ext>
            </a:extLst>
          </p:cNvPr>
          <p:cNvSpPr>
            <a:spLocks noGrp="1"/>
          </p:cNvSpPr>
          <p:nvPr/>
        </p:nvSpPr>
        <p:spPr>
          <a:xfrm>
            <a:off x="6781800" y="310515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Recover recent state or a precise point</a:t>
            </a:r>
          </a:p>
        </p:txBody>
      </p:sp>
      <p:sp>
        <p:nvSpPr>
          <p:cNvPr id="17" name="s3-node-3">
            <a:extLst>
              <a:ext uri="{FF2B5EF4-FFF2-40B4-BE49-F238E27FC236}">
                <a16:creationId xmlns:a16="http://schemas.microsoft.com/office/drawing/2014/main" id="{4A2698EC-D063-42DC-86EA-C1384A51ADE8}"/>
              </a:ext>
            </a:extLst>
          </p:cNvPr>
          <p:cNvSpPr>
            <a:spLocks noGrp="1"/>
          </p:cNvSpPr>
          <p:nvPr/>
        </p:nvSpPr>
        <p:spPr>
          <a:xfrm>
            <a:off x="9620250" y="2305050"/>
            <a:ext cx="2266950" cy="1733550"/>
          </a:xfrm>
          <a:prstGeom prst="rect">
            <a:avLst/>
          </a:prstGeom>
          <a:solidFill>
            <a:srgbClr val="EAF7FC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s3-node-title-3">
            <a:extLst>
              <a:ext uri="{FF2B5EF4-FFF2-40B4-BE49-F238E27FC236}">
                <a16:creationId xmlns:a16="http://schemas.microsoft.com/office/drawing/2014/main" id="{648C7B0D-5D89-4F64-9719-AC19198E76C2}"/>
              </a:ext>
            </a:extLst>
          </p:cNvPr>
          <p:cNvSpPr>
            <a:spLocks noGrp="1"/>
          </p:cNvSpPr>
          <p:nvPr/>
        </p:nvSpPr>
        <p:spPr>
          <a:xfrm>
            <a:off x="9810750" y="2571750"/>
            <a:ext cx="188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Validated service</a:t>
            </a:r>
          </a:p>
        </p:txBody>
      </p:sp>
      <p:sp>
        <p:nvSpPr>
          <p:cNvPr id="19" name="s3-node-body-3">
            <a:extLst>
              <a:ext uri="{FF2B5EF4-FFF2-40B4-BE49-F238E27FC236}">
                <a16:creationId xmlns:a16="http://schemas.microsoft.com/office/drawing/2014/main" id="{2B522F3A-7D50-4538-AA31-BDF22703DB42}"/>
              </a:ext>
            </a:extLst>
          </p:cNvPr>
          <p:cNvSpPr>
            <a:spLocks noGrp="1"/>
          </p:cNvSpPr>
          <p:nvPr/>
        </p:nvSpPr>
        <p:spPr>
          <a:xfrm>
            <a:off x="9810750" y="310515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DBA and application acceptance</a:t>
            </a:r>
          </a:p>
        </p:txBody>
      </p:sp>
      <p:sp>
        <p:nvSpPr>
          <p:cNvPr id="20" name="s3-foundation">
            <a:extLst>
              <a:ext uri="{FF2B5EF4-FFF2-40B4-BE49-F238E27FC236}">
                <a16:creationId xmlns:a16="http://schemas.microsoft.com/office/drawing/2014/main" id="{28553AA8-77B4-463C-A28D-1755477DE1EC}"/>
              </a:ext>
            </a:extLst>
          </p:cNvPr>
          <p:cNvSpPr>
            <a:spLocks noGrp="1"/>
          </p:cNvSpPr>
          <p:nvPr/>
        </p:nvSpPr>
        <p:spPr>
          <a:xfrm>
            <a:off x="1295400" y="4791075"/>
            <a:ext cx="960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Every option must preserve this chain off-host—and prove it by restore.</a:t>
            </a:r>
          </a:p>
        </p:txBody>
      </p:sp>
      <p:sp>
        <p:nvSpPr>
          <p:cNvPr id="21" name="s3-foot">
            <a:extLst>
              <a:ext uri="{FF2B5EF4-FFF2-40B4-BE49-F238E27FC236}">
                <a16:creationId xmlns:a16="http://schemas.microsoft.com/office/drawing/2014/main" id="{9F937F5F-6C90-4214-A457-AA24EE1D62C3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9601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Current state: WAL archive exists on the monitor; retained recovery base backups and isolated restore evidence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72893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4">
            <a:extLst>
              <a:ext uri="{FF2B5EF4-FFF2-40B4-BE49-F238E27FC236}">
                <a16:creationId xmlns:a16="http://schemas.microsoft.com/office/drawing/2014/main" id="{5DBB7AB1-1F1D-46E8-8B5E-6D471B8DD99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Option 1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BF58F3DC-907C-4C82-A3DB-AEBF616D189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571A11DB-62E7-4028-83F5-687D1C3B67A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subtitle-4">
            <a:extLst>
              <a:ext uri="{FF2B5EF4-FFF2-40B4-BE49-F238E27FC236}">
                <a16:creationId xmlns:a16="http://schemas.microsoft.com/office/drawing/2014/main" id="{63AFCE39-2559-4534-BDD8-2511263B589F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Rubrik-managed PostgreSQL protection with native pg_auto_failover integration</a:t>
            </a:r>
          </a:p>
        </p:txBody>
      </p:sp>
      <p:sp>
        <p:nvSpPr>
          <p:cNvPr id="5" name="left-field-4">
            <a:extLst>
              <a:ext uri="{FF2B5EF4-FFF2-40B4-BE49-F238E27FC236}">
                <a16:creationId xmlns:a16="http://schemas.microsoft.com/office/drawing/2014/main" id="{493BC398-A9A0-4FFE-9956-0A953F4FC770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191125" cy="3095625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</p:sp>
      <p:sp>
        <p:nvSpPr>
          <p:cNvPr id="6" name="right-field-4">
            <a:extLst>
              <a:ext uri="{FF2B5EF4-FFF2-40B4-BE49-F238E27FC236}">
                <a16:creationId xmlns:a16="http://schemas.microsoft.com/office/drawing/2014/main" id="{028CF180-B04D-4514-944F-72E33898A333}"/>
              </a:ext>
            </a:extLst>
          </p:cNvPr>
          <p:cNvSpPr>
            <a:spLocks noGrp="1"/>
          </p:cNvSpPr>
          <p:nvPr/>
        </p:nvSpPr>
        <p:spPr>
          <a:xfrm>
            <a:off x="6067425" y="2095500"/>
            <a:ext cx="5591175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left-title-4">
            <a:extLst>
              <a:ext uri="{FF2B5EF4-FFF2-40B4-BE49-F238E27FC236}">
                <a16:creationId xmlns:a16="http://schemas.microsoft.com/office/drawing/2014/main" id="{C0A79D32-991F-4F80-80E4-AB27EFA32643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Potential operating model</a:t>
            </a:r>
          </a:p>
        </p:txBody>
      </p:sp>
      <p:sp>
        <p:nvSpPr>
          <p:cNvPr id="8" name="left-body-4">
            <a:extLst>
              <a:ext uri="{FF2B5EF4-FFF2-40B4-BE49-F238E27FC236}">
                <a16:creationId xmlns:a16="http://schemas.microsoft.com/office/drawing/2014/main" id="{8BC008A7-03FB-49CC-974F-D9E2350B8654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461962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SLA-driven data and WAL protection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Product follows the writable primary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Central retention, immutability and reporting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Product-led recent-state and PITR recovery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Lower custom automation after validation</a:t>
            </a:r>
          </a:p>
        </p:txBody>
      </p:sp>
      <p:sp>
        <p:nvSpPr>
          <p:cNvPr id="9" name="right-title-4">
            <a:extLst>
              <a:ext uri="{FF2B5EF4-FFF2-40B4-BE49-F238E27FC236}">
                <a16:creationId xmlns:a16="http://schemas.microsoft.com/office/drawing/2014/main" id="{9C727290-734E-47E6-835F-AD06968612DF}"/>
              </a:ext>
            </a:extLst>
          </p:cNvPr>
          <p:cNvSpPr>
            <a:spLocks noGrp="1"/>
          </p:cNvSpPr>
          <p:nvPr/>
        </p:nvSpPr>
        <p:spPr>
          <a:xfrm>
            <a:off x="6315075" y="2343150"/>
            <a:ext cx="5000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Evidence still required</a:t>
            </a:r>
          </a:p>
        </p:txBody>
      </p:sp>
      <p:sp>
        <p:nvSpPr>
          <p:cNvPr id="10" name="right-body-4">
            <a:extLst>
              <a:ext uri="{FF2B5EF4-FFF2-40B4-BE49-F238E27FC236}">
                <a16:creationId xmlns:a16="http://schemas.microsoft.com/office/drawing/2014/main" id="{DB991031-6895-4E8B-BEB7-D455A3E37706}"/>
              </a:ext>
            </a:extLst>
          </p:cNvPr>
          <p:cNvSpPr>
            <a:spLocks noGrp="1"/>
          </p:cNvSpPr>
          <p:nvPr/>
        </p:nvSpPr>
        <p:spPr>
          <a:xfrm>
            <a:off x="6315075" y="2876550"/>
            <a:ext cx="500062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Exact release supporting PostgreSQL 18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Written pg_auto_failover support statement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Behavior during and after promotion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Monitor backup and replacement workflow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Fencing and safe rejoin after restore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Measured restore and application validation</a:t>
            </a:r>
          </a:p>
        </p:txBody>
      </p:sp>
      <p:sp>
        <p:nvSpPr>
          <p:cNvPr id="11" name="callout-rule-4">
            <a:extLst>
              <a:ext uri="{FF2B5EF4-FFF2-40B4-BE49-F238E27FC236}">
                <a16:creationId xmlns:a16="http://schemas.microsoft.com/office/drawing/2014/main" id="{BCB81658-39DA-4FDD-A62B-B091BCBDAA52}"/>
              </a:ext>
            </a:extLst>
          </p:cNvPr>
          <p:cNvSpPr>
            <a:spLocks noGrp="1"/>
          </p:cNvSpPr>
          <p:nvPr/>
        </p:nvSpPr>
        <p:spPr>
          <a:xfrm>
            <a:off x="533400" y="5543550"/>
            <a:ext cx="76200" cy="5524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callout-4">
            <a:extLst>
              <a:ext uri="{FF2B5EF4-FFF2-40B4-BE49-F238E27FC236}">
                <a16:creationId xmlns:a16="http://schemas.microsoft.com/office/drawing/2014/main" id="{858CEE38-A645-439A-B178-80CDDB866AE0}"/>
              </a:ext>
            </a:extLst>
          </p:cNvPr>
          <p:cNvSpPr>
            <a:spLocks noGrp="1"/>
          </p:cNvSpPr>
          <p:nvPr/>
        </p:nvSpPr>
        <p:spPr>
          <a:xfrm>
            <a:off x="781050" y="5514975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Current public compatibility evidence reviewed here lists Community PostgreSQL through version 17; treat the new-release claim as conditional.</a:t>
            </a:r>
          </a:p>
        </p:txBody>
      </p:sp>
    </p:spTree>
    <p:extLst>
      <p:ext uri="{BB962C8B-B14F-4D97-AF65-F5344CB8AC3E}">
        <p14:creationId xmlns:p14="http://schemas.microsoft.com/office/powerpoint/2010/main" val="2053606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5">
            <a:extLst>
              <a:ext uri="{FF2B5EF4-FFF2-40B4-BE49-F238E27FC236}">
                <a16:creationId xmlns:a16="http://schemas.microsoft.com/office/drawing/2014/main" id="{0D40B4F0-55E1-4E3E-8784-8BEA1D3C4AE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Option 2 uses Rubrik but keeps HA orchestration manual</a:t>
            </a:r>
          </a:p>
        </p:txBody>
      </p:sp>
      <p:sp>
        <p:nvSpPr>
          <p:cNvPr id="2" name="title-rule-5">
            <a:extLst>
              <a:ext uri="{FF2B5EF4-FFF2-40B4-BE49-F238E27FC236}">
                <a16:creationId xmlns:a16="http://schemas.microsoft.com/office/drawing/2014/main" id="{2D2F796F-70A0-4418-A8CF-B0E65837C61C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28E7D9EC-1E58-485E-9D71-3CE70702473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subtitle-5">
            <a:extLst>
              <a:ext uri="{FF2B5EF4-FFF2-40B4-BE49-F238E27FC236}">
                <a16:creationId xmlns:a16="http://schemas.microsoft.com/office/drawing/2014/main" id="{13AD57BA-4475-4F8B-BF11-72AC1B4A9329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Protect the PostgreSQL cluster with standard Rubrik workflows; protect the monitor separately</a:t>
            </a:r>
          </a:p>
        </p:txBody>
      </p:sp>
      <p:sp>
        <p:nvSpPr>
          <p:cNvPr id="5" name="left-field-5">
            <a:extLst>
              <a:ext uri="{FF2B5EF4-FFF2-40B4-BE49-F238E27FC236}">
                <a16:creationId xmlns:a16="http://schemas.microsoft.com/office/drawing/2014/main" id="{24BB2B50-963C-4091-A1FA-F4AEBF2F1FE7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191125" cy="3095625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</p:sp>
      <p:sp>
        <p:nvSpPr>
          <p:cNvPr id="6" name="right-field-5">
            <a:extLst>
              <a:ext uri="{FF2B5EF4-FFF2-40B4-BE49-F238E27FC236}">
                <a16:creationId xmlns:a16="http://schemas.microsoft.com/office/drawing/2014/main" id="{293EA1D6-9443-41E9-AD17-C6AAEAC0C0C3}"/>
              </a:ext>
            </a:extLst>
          </p:cNvPr>
          <p:cNvSpPr>
            <a:spLocks noGrp="1"/>
          </p:cNvSpPr>
          <p:nvPr/>
        </p:nvSpPr>
        <p:spPr>
          <a:xfrm>
            <a:off x="6067425" y="2095500"/>
            <a:ext cx="5591175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left-title-5">
            <a:extLst>
              <a:ext uri="{FF2B5EF4-FFF2-40B4-BE49-F238E27FC236}">
                <a16:creationId xmlns:a16="http://schemas.microsoft.com/office/drawing/2014/main" id="{77B6D6BF-3D6B-4522-A651-F31C87FC52FA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Rubrik can centralize</a:t>
            </a:r>
          </a:p>
        </p:txBody>
      </p:sp>
      <p:sp>
        <p:nvSpPr>
          <p:cNvPr id="8" name="left-body-5">
            <a:extLst>
              <a:ext uri="{FF2B5EF4-FFF2-40B4-BE49-F238E27FC236}">
                <a16:creationId xmlns:a16="http://schemas.microsoft.com/office/drawing/2014/main" id="{49359AAC-FA74-4FC1-80E7-F05C6B3C3C89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461962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Policy-driven data and WAL protection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Off-host retention and recovery catalog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Encryption, access control and reporting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Product-assisted recent-state or PITR restore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Separate monitor VM/application policy</a:t>
            </a:r>
          </a:p>
        </p:txBody>
      </p:sp>
      <p:sp>
        <p:nvSpPr>
          <p:cNvPr id="9" name="right-title-5">
            <a:extLst>
              <a:ext uri="{FF2B5EF4-FFF2-40B4-BE49-F238E27FC236}">
                <a16:creationId xmlns:a16="http://schemas.microsoft.com/office/drawing/2014/main" id="{D458F86A-B8E1-47E2-A08B-15B10ECB27D8}"/>
              </a:ext>
            </a:extLst>
          </p:cNvPr>
          <p:cNvSpPr>
            <a:spLocks noGrp="1"/>
          </p:cNvSpPr>
          <p:nvPr/>
        </p:nvSpPr>
        <p:spPr>
          <a:xfrm>
            <a:off x="6315075" y="2343150"/>
            <a:ext cx="5000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What operations must own</a:t>
            </a:r>
          </a:p>
        </p:txBody>
      </p:sp>
      <p:sp>
        <p:nvSpPr>
          <p:cNvPr id="10" name="right-body-5">
            <a:extLst>
              <a:ext uri="{FF2B5EF4-FFF2-40B4-BE49-F238E27FC236}">
                <a16:creationId xmlns:a16="http://schemas.microsoft.com/office/drawing/2014/main" id="{10419F22-8E26-4D0E-A1A6-B16740F68B6B}"/>
              </a:ext>
            </a:extLst>
          </p:cNvPr>
          <p:cNvSpPr>
            <a:spLocks noGrp="1"/>
          </p:cNvSpPr>
          <p:nvPr/>
        </p:nvSpPr>
        <p:spPr>
          <a:xfrm>
            <a:off x="6315075" y="2876550"/>
            <a:ext cx="500062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Identify the authoritative primary after failover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Prevent duplicate or stale protection sources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Fence old primaries before restore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Recover or replace monitor control state safely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Re-register/reseed nodes after recovery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Coordinate Rubrik, DBA and VMware runbooks</a:t>
            </a:r>
          </a:p>
        </p:txBody>
      </p:sp>
      <p:sp>
        <p:nvSpPr>
          <p:cNvPr id="11" name="callout-rule-5">
            <a:extLst>
              <a:ext uri="{FF2B5EF4-FFF2-40B4-BE49-F238E27FC236}">
                <a16:creationId xmlns:a16="http://schemas.microsoft.com/office/drawing/2014/main" id="{C0128AD4-02D5-45D3-A279-6507F1E69FDE}"/>
              </a:ext>
            </a:extLst>
          </p:cNvPr>
          <p:cNvSpPr>
            <a:spLocks noGrp="1"/>
          </p:cNvSpPr>
          <p:nvPr/>
        </p:nvSpPr>
        <p:spPr>
          <a:xfrm>
            <a:off x="533400" y="5543550"/>
            <a:ext cx="76200" cy="5524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callout-5">
            <a:extLst>
              <a:ext uri="{FF2B5EF4-FFF2-40B4-BE49-F238E27FC236}">
                <a16:creationId xmlns:a16="http://schemas.microsoft.com/office/drawing/2014/main" id="{870BDBA4-3211-4C2B-9AA7-9CE327E7E69A}"/>
              </a:ext>
            </a:extLst>
          </p:cNvPr>
          <p:cNvSpPr>
            <a:spLocks noGrp="1"/>
          </p:cNvSpPr>
          <p:nvPr/>
        </p:nvSpPr>
        <p:spPr>
          <a:xfrm>
            <a:off x="781050" y="5514975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This model is viable only if the shared recovery procedure prevents stale primary or stale monitor state from re-entering the cluster.</a:t>
            </a:r>
          </a:p>
        </p:txBody>
      </p:sp>
    </p:spTree>
    <p:extLst>
      <p:ext uri="{BB962C8B-B14F-4D97-AF65-F5344CB8AC3E}">
        <p14:creationId xmlns:p14="http://schemas.microsoft.com/office/powerpoint/2010/main" val="14198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6">
            <a:extLst>
              <a:ext uri="{FF2B5EF4-FFF2-40B4-BE49-F238E27FC236}">
                <a16:creationId xmlns:a16="http://schemas.microsoft.com/office/drawing/2014/main" id="{E3526892-658B-46FD-A995-DB0EF8B55E9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Option 3 maxim</a:t>
            </a:r>
            <a:r>
              <a:rPr lang="en-IN" sz="2850" b="1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um effort </a:t>
            </a:r>
            <a:r>
              <a:rPr sz="2850" b="1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and internal accountability</a:t>
            </a:r>
          </a:p>
        </p:txBody>
      </p:sp>
      <p:sp>
        <p:nvSpPr>
          <p:cNvPr id="2" name="title-rule-6">
            <a:extLst>
              <a:ext uri="{FF2B5EF4-FFF2-40B4-BE49-F238E27FC236}">
                <a16:creationId xmlns:a16="http://schemas.microsoft.com/office/drawing/2014/main" id="{ED62BBBD-DF53-4480-BA33-FC91A47EFB6B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E49EC980-2003-4E4A-B834-59E47DF12FD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ubtitle-6">
            <a:extLst>
              <a:ext uri="{FF2B5EF4-FFF2-40B4-BE49-F238E27FC236}">
                <a16:creationId xmlns:a16="http://schemas.microsoft.com/office/drawing/2014/main" id="{1B365B60-2283-4530-B6CB-274D3C1CD65A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Ansible-managed WAL archive with operator-run physical base backups</a:t>
            </a:r>
          </a:p>
        </p:txBody>
      </p:sp>
      <p:sp>
        <p:nvSpPr>
          <p:cNvPr id="5" name="left-field-6">
            <a:extLst>
              <a:ext uri="{FF2B5EF4-FFF2-40B4-BE49-F238E27FC236}">
                <a16:creationId xmlns:a16="http://schemas.microsoft.com/office/drawing/2014/main" id="{6367679F-7A72-4E50-90E9-5A823F7010EB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191125" cy="3095625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</p:sp>
      <p:sp>
        <p:nvSpPr>
          <p:cNvPr id="6" name="right-field-6">
            <a:extLst>
              <a:ext uri="{FF2B5EF4-FFF2-40B4-BE49-F238E27FC236}">
                <a16:creationId xmlns:a16="http://schemas.microsoft.com/office/drawing/2014/main" id="{E51C2B35-5E4F-4B85-A29C-95E2C7E20F08}"/>
              </a:ext>
            </a:extLst>
          </p:cNvPr>
          <p:cNvSpPr>
            <a:spLocks noGrp="1"/>
          </p:cNvSpPr>
          <p:nvPr/>
        </p:nvSpPr>
        <p:spPr>
          <a:xfrm>
            <a:off x="6067425" y="2095500"/>
            <a:ext cx="5591175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left-title-6">
            <a:extLst>
              <a:ext uri="{FF2B5EF4-FFF2-40B4-BE49-F238E27FC236}">
                <a16:creationId xmlns:a16="http://schemas.microsoft.com/office/drawing/2014/main" id="{FC81BB2A-5AD0-40B3-ACF8-93D4453B1854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Designed technical pattern</a:t>
            </a:r>
          </a:p>
        </p:txBody>
      </p:sp>
      <p:sp>
        <p:nvSpPr>
          <p:cNvPr id="8" name="left-body-6">
            <a:extLst>
              <a:ext uri="{FF2B5EF4-FFF2-40B4-BE49-F238E27FC236}">
                <a16:creationId xmlns:a16="http://schemas.microsoft.com/office/drawing/2014/main" id="{383DD00C-6B09-487F-BE9A-50E4D93BC4B1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461962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Discover exactly one writable primary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Run rate-limited </a:t>
            </a:r>
            <a:r>
              <a:rPr sz="1350" b="0" dirty="0" err="1">
                <a:solidFill>
                  <a:srgbClr val="0B1320"/>
                </a:solidFill>
                <a:latin typeface="Arial"/>
                <a:ea typeface="Arial"/>
                <a:cs typeface="Arial"/>
              </a:rPr>
              <a:t>pg_basebackup</a:t>
            </a:r>
            <a:endParaRPr sz="1350" b="0" dirty="0">
              <a:solidFill>
                <a:srgbClr val="0B132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Stream startup WAL into the backup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Verify SHA-256 manifest with </a:t>
            </a:r>
            <a:r>
              <a:rPr sz="1350" b="0" dirty="0" err="1">
                <a:solidFill>
                  <a:srgbClr val="0B1320"/>
                </a:solidFill>
                <a:latin typeface="Arial"/>
                <a:ea typeface="Arial"/>
                <a:cs typeface="Arial"/>
              </a:rPr>
              <a:t>pg_verifybackup</a:t>
            </a:r>
            <a:endParaRPr sz="1350" b="0" dirty="0">
              <a:solidFill>
                <a:srgbClr val="0B132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Publish atomically only after verification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Retain the matching WAL/timeline chain</a:t>
            </a:r>
          </a:p>
        </p:txBody>
      </p:sp>
      <p:sp>
        <p:nvSpPr>
          <p:cNvPr id="9" name="right-title-6">
            <a:extLst>
              <a:ext uri="{FF2B5EF4-FFF2-40B4-BE49-F238E27FC236}">
                <a16:creationId xmlns:a16="http://schemas.microsoft.com/office/drawing/2014/main" id="{51F3D31C-FE1B-4624-9812-76204AE46D7F}"/>
              </a:ext>
            </a:extLst>
          </p:cNvPr>
          <p:cNvSpPr>
            <a:spLocks noGrp="1"/>
          </p:cNvSpPr>
          <p:nvPr/>
        </p:nvSpPr>
        <p:spPr>
          <a:xfrm>
            <a:off x="6315075" y="2343150"/>
            <a:ext cx="5000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Controls the team must build and sustain</a:t>
            </a:r>
          </a:p>
        </p:txBody>
      </p:sp>
      <p:sp>
        <p:nvSpPr>
          <p:cNvPr id="10" name="right-body-6">
            <a:extLst>
              <a:ext uri="{FF2B5EF4-FFF2-40B4-BE49-F238E27FC236}">
                <a16:creationId xmlns:a16="http://schemas.microsoft.com/office/drawing/2014/main" id="{1C64DB79-61A6-4B4F-BE65-051C90FE0FDE}"/>
              </a:ext>
            </a:extLst>
          </p:cNvPr>
          <p:cNvSpPr>
            <a:spLocks noGrp="1"/>
          </p:cNvSpPr>
          <p:nvPr/>
        </p:nvSpPr>
        <p:spPr>
          <a:xfrm>
            <a:off x="6315075" y="2876550"/>
            <a:ext cx="500062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Dedicated backup storage and capacity guardrails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Off-host immutable copy and catalog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WAL/base-backup retention coupling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Credentials, alerting and audit evidence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Recovery orchestration and fencing</a:t>
            </a:r>
          </a:p>
          <a:p>
            <a:pPr algn="l">
              <a:defRPr sz="1350" b="0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B1320"/>
                </a:solidFill>
                <a:latin typeface="Arial"/>
                <a:ea typeface="Arial"/>
                <a:cs typeface="Arial"/>
              </a:rPr>
              <a:t>• Quarterly isolated restore exercises</a:t>
            </a:r>
          </a:p>
        </p:txBody>
      </p:sp>
      <p:sp>
        <p:nvSpPr>
          <p:cNvPr id="11" name="callout-rule-6">
            <a:extLst>
              <a:ext uri="{FF2B5EF4-FFF2-40B4-BE49-F238E27FC236}">
                <a16:creationId xmlns:a16="http://schemas.microsoft.com/office/drawing/2014/main" id="{1E9F7BFF-3E83-4C23-8176-A664C4A9D819}"/>
              </a:ext>
            </a:extLst>
          </p:cNvPr>
          <p:cNvSpPr>
            <a:spLocks noGrp="1"/>
          </p:cNvSpPr>
          <p:nvPr/>
        </p:nvSpPr>
        <p:spPr>
          <a:xfrm>
            <a:off x="533400" y="5543550"/>
            <a:ext cx="76200" cy="5524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callout-6">
            <a:extLst>
              <a:ext uri="{FF2B5EF4-FFF2-40B4-BE49-F238E27FC236}">
                <a16:creationId xmlns:a16="http://schemas.microsoft.com/office/drawing/2014/main" id="{794A7C89-7244-4741-ABA2-0BC92410CBD3}"/>
              </a:ext>
            </a:extLst>
          </p:cNvPr>
          <p:cNvSpPr>
            <a:spLocks noGrp="1"/>
          </p:cNvSpPr>
          <p:nvPr/>
        </p:nvSpPr>
        <p:spPr>
          <a:xfrm>
            <a:off x="781050" y="5514975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The repository has the WAL layer and a detailed base-backup design; the retained base-backup service is not yet operational.</a:t>
            </a:r>
          </a:p>
        </p:txBody>
      </p:sp>
    </p:spTree>
    <p:extLst>
      <p:ext uri="{BB962C8B-B14F-4D97-AF65-F5344CB8AC3E}">
        <p14:creationId xmlns:p14="http://schemas.microsoft.com/office/powerpoint/2010/main" val="184887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7">
            <a:extLst>
              <a:ext uri="{FF2B5EF4-FFF2-40B4-BE49-F238E27FC236}">
                <a16:creationId xmlns:a16="http://schemas.microsoft.com/office/drawing/2014/main" id="{2ECAF273-C2C4-4D1D-A7C6-8459B5FA1C4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Product dependency trades off against operating burden</a:t>
            </a:r>
          </a:p>
        </p:txBody>
      </p:sp>
      <p:sp>
        <p:nvSpPr>
          <p:cNvPr id="2" name="title-rule-7">
            <a:extLst>
              <a:ext uri="{FF2B5EF4-FFF2-40B4-BE49-F238E27FC236}">
                <a16:creationId xmlns:a16="http://schemas.microsoft.com/office/drawing/2014/main" id="{B1F4D854-F8C3-4D63-86F0-02AC04336C3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C548E741-5BB7-4C6A-98BB-5C2C98BD1AF2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s7-lead">
            <a:extLst>
              <a:ext uri="{FF2B5EF4-FFF2-40B4-BE49-F238E27FC236}">
                <a16:creationId xmlns:a16="http://schemas.microsoft.com/office/drawing/2014/main" id="{B57F9D8F-66E7-497D-BADB-9105594CC928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Qualitative tendencies only; service levels must come from measured recovery tests.</a:t>
            </a:r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1336103770"/>
              </p:ext>
            </p:extLst>
          </p:nvPr>
        </p:nvGraphicFramePr>
        <p:xfrm>
          <a:off x="533400" y="1952625"/>
          <a:ext cx="11125200" cy="3752847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612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dimension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  Rubrik + native HA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 Rubrik + manual HA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  Ansible + manual base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Failover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Product-managed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Shared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Custom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Custom automation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Lowest potential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Moderate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Off-host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Rubrik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Rubrik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Separate target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Monitor recovery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Must be confirmed</a:t>
                      </a:r>
                      <a:r>
                        <a:rPr lang="en-IN"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 with Rubrik</a:t>
                      </a:r>
                      <a:endParaRPr sz="1200" b="0" dirty="0">
                        <a:solidFill>
                          <a:srgbClr val="0B132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Separate policy/runbook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Separate backup/rebuild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Recovery ownership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Rubrik-led + DBA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Backup + DBA + VMware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DBA/automation-led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Primary uncertainty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Release/support evidence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Safe source and rejoin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1320"/>
                          </a:solidFill>
                          <a:latin typeface="Arial"/>
                          <a:ea typeface="Arial"/>
                          <a:cs typeface="Arial"/>
                        </a:rPr>
                        <a:t>Supportability/human error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7-caution">
            <a:extLst>
              <a:ext uri="{FF2B5EF4-FFF2-40B4-BE49-F238E27FC236}">
                <a16:creationId xmlns:a16="http://schemas.microsoft.com/office/drawing/2014/main" id="{2A99B19F-C445-42D6-9E36-C91928D9FD14}"/>
              </a:ext>
            </a:extLst>
          </p:cNvPr>
          <p:cNvSpPr>
            <a:spLocks noGrp="1"/>
          </p:cNvSpPr>
          <p:nvPr/>
        </p:nvSpPr>
        <p:spPr>
          <a:xfrm>
            <a:off x="533400" y="5924550"/>
            <a:ext cx="76200" cy="342900"/>
          </a:xfrm>
          <a:prstGeom prst="rect">
            <a:avLst/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7" name="s7-caution-text">
            <a:extLst>
              <a:ext uri="{FF2B5EF4-FFF2-40B4-BE49-F238E27FC236}">
                <a16:creationId xmlns:a16="http://schemas.microsoft.com/office/drawing/2014/main" id="{7DEE1818-B848-4CA4-B74A-0CFE42426714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No RPO/RTO commitment should be inferred from this table.</a:t>
            </a:r>
          </a:p>
        </p:txBody>
      </p:sp>
    </p:spTree>
    <p:extLst>
      <p:ext uri="{BB962C8B-B14F-4D97-AF65-F5344CB8AC3E}">
        <p14:creationId xmlns:p14="http://schemas.microsoft.com/office/powerpoint/2010/main" val="106616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8">
            <a:extLst>
              <a:ext uri="{FF2B5EF4-FFF2-40B4-BE49-F238E27FC236}">
                <a16:creationId xmlns:a16="http://schemas.microsoft.com/office/drawing/2014/main" id="{D59A8872-18D9-4F9B-9E94-A877A002F4E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Recovery scenarios expose different control-plane risks</a:t>
            </a:r>
          </a:p>
        </p:txBody>
      </p:sp>
      <p:sp>
        <p:nvSpPr>
          <p:cNvPr id="2" name="title-rule-8">
            <a:extLst>
              <a:ext uri="{FF2B5EF4-FFF2-40B4-BE49-F238E27FC236}">
                <a16:creationId xmlns:a16="http://schemas.microsoft.com/office/drawing/2014/main" id="{DD6834A2-125C-4589-A2E2-A91985C7A5A3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434F764A-B2C6-44E4-BC78-A1A38B8DF8F2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8-index-0">
            <a:extLst>
              <a:ext uri="{FF2B5EF4-FFF2-40B4-BE49-F238E27FC236}">
                <a16:creationId xmlns:a16="http://schemas.microsoft.com/office/drawing/2014/main" id="{C4CA0ED2-74F3-4622-B39A-0290EE324AC9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8-title-0">
            <a:extLst>
              <a:ext uri="{FF2B5EF4-FFF2-40B4-BE49-F238E27FC236}">
                <a16:creationId xmlns:a16="http://schemas.microsoft.com/office/drawing/2014/main" id="{930F2B89-5374-4557-856D-E04D42107341}"/>
              </a:ext>
            </a:extLst>
          </p:cNvPr>
          <p:cNvSpPr>
            <a:spLocks noGrp="1"/>
          </p:cNvSpPr>
          <p:nvPr/>
        </p:nvSpPr>
        <p:spPr>
          <a:xfrm>
            <a:off x="1257300" y="160020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Single data-node loss</a:t>
            </a:r>
          </a:p>
        </p:txBody>
      </p:sp>
      <p:sp>
        <p:nvSpPr>
          <p:cNvPr id="6" name="s8-rule-0">
            <a:extLst>
              <a:ext uri="{FF2B5EF4-FFF2-40B4-BE49-F238E27FC236}">
                <a16:creationId xmlns:a16="http://schemas.microsoft.com/office/drawing/2014/main" id="{FBB71BAF-67C3-4ADC-A608-777BE5F5FDFA}"/>
              </a:ext>
            </a:extLst>
          </p:cNvPr>
          <p:cNvSpPr>
            <a:spLocks noGrp="1"/>
          </p:cNvSpPr>
          <p:nvPr/>
        </p:nvSpPr>
        <p:spPr>
          <a:xfrm>
            <a:off x="4210050" y="1638300"/>
            <a:ext cx="19050" cy="6477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s8-body-0">
            <a:extLst>
              <a:ext uri="{FF2B5EF4-FFF2-40B4-BE49-F238E27FC236}">
                <a16:creationId xmlns:a16="http://schemas.microsoft.com/office/drawing/2014/main" id="{147C6FB2-D2BF-4B0B-99EB-BA53187296BD}"/>
              </a:ext>
            </a:extLst>
          </p:cNvPr>
          <p:cNvSpPr>
            <a:spLocks noGrp="1"/>
          </p:cNvSpPr>
          <p:nvPr/>
        </p:nvSpPr>
        <p:spPr>
          <a:xfrm>
            <a:off x="4476750" y="1600200"/>
            <a:ext cx="666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HA reseeds a secondary; backup is not normally used</a:t>
            </a:r>
          </a:p>
        </p:txBody>
      </p:sp>
      <p:sp>
        <p:nvSpPr>
          <p:cNvPr id="8" name="s8-index-1">
            <a:extLst>
              <a:ext uri="{FF2B5EF4-FFF2-40B4-BE49-F238E27FC236}">
                <a16:creationId xmlns:a16="http://schemas.microsoft.com/office/drawing/2014/main" id="{72BA02E6-AC62-43BD-A65F-5690827B84BE}"/>
              </a:ext>
            </a:extLst>
          </p:cNvPr>
          <p:cNvSpPr>
            <a:spLocks noGrp="1"/>
          </p:cNvSpPr>
          <p:nvPr/>
        </p:nvSpPr>
        <p:spPr>
          <a:xfrm>
            <a:off x="533400" y="260032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8-title-1">
            <a:extLst>
              <a:ext uri="{FF2B5EF4-FFF2-40B4-BE49-F238E27FC236}">
                <a16:creationId xmlns:a16="http://schemas.microsoft.com/office/drawing/2014/main" id="{CE733094-F7C7-4F45-BED1-D29E31C8DB14}"/>
              </a:ext>
            </a:extLst>
          </p:cNvPr>
          <p:cNvSpPr>
            <a:spLocks noGrp="1"/>
          </p:cNvSpPr>
          <p:nvPr/>
        </p:nvSpPr>
        <p:spPr>
          <a:xfrm>
            <a:off x="1257300" y="2600325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Monitor loss</a:t>
            </a:r>
          </a:p>
        </p:txBody>
      </p:sp>
      <p:sp>
        <p:nvSpPr>
          <p:cNvPr id="10" name="s8-rule-1">
            <a:extLst>
              <a:ext uri="{FF2B5EF4-FFF2-40B4-BE49-F238E27FC236}">
                <a16:creationId xmlns:a16="http://schemas.microsoft.com/office/drawing/2014/main" id="{78215772-EBC2-4055-B810-4B343232C030}"/>
              </a:ext>
            </a:extLst>
          </p:cNvPr>
          <p:cNvSpPr>
            <a:spLocks noGrp="1"/>
          </p:cNvSpPr>
          <p:nvPr/>
        </p:nvSpPr>
        <p:spPr>
          <a:xfrm>
            <a:off x="4210050" y="2638425"/>
            <a:ext cx="19050" cy="6477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s8-body-1">
            <a:extLst>
              <a:ext uri="{FF2B5EF4-FFF2-40B4-BE49-F238E27FC236}">
                <a16:creationId xmlns:a16="http://schemas.microsoft.com/office/drawing/2014/main" id="{290F8A36-26A3-46C9-B9BA-96D609145160}"/>
              </a:ext>
            </a:extLst>
          </p:cNvPr>
          <p:cNvSpPr>
            <a:spLocks noGrp="1"/>
          </p:cNvSpPr>
          <p:nvPr/>
        </p:nvSpPr>
        <p:spPr>
          <a:xfrm>
            <a:off x="4476750" y="2600325"/>
            <a:ext cx="666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Protect/rebuild separately; never revive stale monitor authority</a:t>
            </a:r>
          </a:p>
        </p:txBody>
      </p:sp>
      <p:sp>
        <p:nvSpPr>
          <p:cNvPr id="12" name="s8-index-2">
            <a:extLst>
              <a:ext uri="{FF2B5EF4-FFF2-40B4-BE49-F238E27FC236}">
                <a16:creationId xmlns:a16="http://schemas.microsoft.com/office/drawing/2014/main" id="{80CEBD26-FDE4-46F8-9E01-83AB55945174}"/>
              </a:ext>
            </a:extLst>
          </p:cNvPr>
          <p:cNvSpPr>
            <a:spLocks noGrp="1"/>
          </p:cNvSpPr>
          <p:nvPr/>
        </p:nvSpPr>
        <p:spPr>
          <a:xfrm>
            <a:off x="533400" y="3600450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s8-title-2">
            <a:extLst>
              <a:ext uri="{FF2B5EF4-FFF2-40B4-BE49-F238E27FC236}">
                <a16:creationId xmlns:a16="http://schemas.microsoft.com/office/drawing/2014/main" id="{F85DC2B9-0A4A-4B5B-9EEF-54407BEFF9FA}"/>
              </a:ext>
            </a:extLst>
          </p:cNvPr>
          <p:cNvSpPr>
            <a:spLocks noGrp="1"/>
          </p:cNvSpPr>
          <p:nvPr/>
        </p:nvSpPr>
        <p:spPr>
          <a:xfrm>
            <a:off x="1257300" y="360045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Logical corruption</a:t>
            </a:r>
          </a:p>
        </p:txBody>
      </p:sp>
      <p:sp>
        <p:nvSpPr>
          <p:cNvPr id="14" name="s8-rule-2">
            <a:extLst>
              <a:ext uri="{FF2B5EF4-FFF2-40B4-BE49-F238E27FC236}">
                <a16:creationId xmlns:a16="http://schemas.microsoft.com/office/drawing/2014/main" id="{784A81B5-948F-42C4-BEBC-E6568B6FA12D}"/>
              </a:ext>
            </a:extLst>
          </p:cNvPr>
          <p:cNvSpPr>
            <a:spLocks noGrp="1"/>
          </p:cNvSpPr>
          <p:nvPr/>
        </p:nvSpPr>
        <p:spPr>
          <a:xfrm>
            <a:off x="4210050" y="3638550"/>
            <a:ext cx="19050" cy="6477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s8-body-2">
            <a:extLst>
              <a:ext uri="{FF2B5EF4-FFF2-40B4-BE49-F238E27FC236}">
                <a16:creationId xmlns:a16="http://schemas.microsoft.com/office/drawing/2014/main" id="{4402DD91-D0D1-43B4-B251-A795797FFB5E}"/>
              </a:ext>
            </a:extLst>
          </p:cNvPr>
          <p:cNvSpPr>
            <a:spLocks noGrp="1"/>
          </p:cNvSpPr>
          <p:nvPr/>
        </p:nvSpPr>
        <p:spPr>
          <a:xfrm>
            <a:off x="4476750" y="3600450"/>
            <a:ext cx="666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Fence writes; restore base + WAL to an isolated point in time</a:t>
            </a:r>
          </a:p>
        </p:txBody>
      </p:sp>
      <p:sp>
        <p:nvSpPr>
          <p:cNvPr id="16" name="s8-index-3">
            <a:extLst>
              <a:ext uri="{FF2B5EF4-FFF2-40B4-BE49-F238E27FC236}">
                <a16:creationId xmlns:a16="http://schemas.microsoft.com/office/drawing/2014/main" id="{B6F8C43A-F8D4-400E-9ED7-048DE05BA24D}"/>
              </a:ext>
            </a:extLst>
          </p:cNvPr>
          <p:cNvSpPr>
            <a:spLocks noGrp="1"/>
          </p:cNvSpPr>
          <p:nvPr/>
        </p:nvSpPr>
        <p:spPr>
          <a:xfrm>
            <a:off x="533400" y="4600575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s8-title-3">
            <a:extLst>
              <a:ext uri="{FF2B5EF4-FFF2-40B4-BE49-F238E27FC236}">
                <a16:creationId xmlns:a16="http://schemas.microsoft.com/office/drawing/2014/main" id="{D9B2C5A3-B4B9-4DAE-B37D-DB3326E2F61A}"/>
              </a:ext>
            </a:extLst>
          </p:cNvPr>
          <p:cNvSpPr>
            <a:spLocks noGrp="1"/>
          </p:cNvSpPr>
          <p:nvPr/>
        </p:nvSpPr>
        <p:spPr>
          <a:xfrm>
            <a:off x="1257300" y="4600575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Complete DB-tier loss</a:t>
            </a:r>
          </a:p>
        </p:txBody>
      </p:sp>
      <p:sp>
        <p:nvSpPr>
          <p:cNvPr id="18" name="s8-rule-3">
            <a:extLst>
              <a:ext uri="{FF2B5EF4-FFF2-40B4-BE49-F238E27FC236}">
                <a16:creationId xmlns:a16="http://schemas.microsoft.com/office/drawing/2014/main" id="{17666EC6-027B-49D6-9428-BDDAA470A117}"/>
              </a:ext>
            </a:extLst>
          </p:cNvPr>
          <p:cNvSpPr>
            <a:spLocks noGrp="1"/>
          </p:cNvSpPr>
          <p:nvPr/>
        </p:nvSpPr>
        <p:spPr>
          <a:xfrm>
            <a:off x="4210050" y="4638675"/>
            <a:ext cx="19050" cy="6477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s8-body-3">
            <a:extLst>
              <a:ext uri="{FF2B5EF4-FFF2-40B4-BE49-F238E27FC236}">
                <a16:creationId xmlns:a16="http://schemas.microsoft.com/office/drawing/2014/main" id="{25D296F3-985D-412C-9589-FC1192E74043}"/>
              </a:ext>
            </a:extLst>
          </p:cNvPr>
          <p:cNvSpPr>
            <a:spLocks noGrp="1"/>
          </p:cNvSpPr>
          <p:nvPr/>
        </p:nvSpPr>
        <p:spPr>
          <a:xfrm>
            <a:off x="4476750" y="4600575"/>
            <a:ext cx="666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Restore one authority, rebuild monitor, then seed a new secondary</a:t>
            </a:r>
          </a:p>
        </p:txBody>
      </p:sp>
      <p:sp>
        <p:nvSpPr>
          <p:cNvPr id="20" name="s8-bottom">
            <a:extLst>
              <a:ext uri="{FF2B5EF4-FFF2-40B4-BE49-F238E27FC236}">
                <a16:creationId xmlns:a16="http://schemas.microsoft.com/office/drawing/2014/main" id="{031620DA-E6E6-4DFE-9E17-91C3ABD3C72C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523875"/>
          </a:xfrm>
          <a:prstGeom prst="rect">
            <a:avLst/>
          </a:prstGeom>
          <a:solidFill>
            <a:srgbClr val="EAF7FC"/>
          </a:solidFill>
          <a:ln w="0">
            <a:noFill/>
            <a:prstDash val="solid"/>
          </a:ln>
        </p:spPr>
      </p:sp>
      <p:sp>
        <p:nvSpPr>
          <p:cNvPr id="21" name="s8-bottom-text">
            <a:extLst>
              <a:ext uri="{FF2B5EF4-FFF2-40B4-BE49-F238E27FC236}">
                <a16:creationId xmlns:a16="http://schemas.microsoft.com/office/drawing/2014/main" id="{BFDDC73C-670C-4C69-8C0C-4DF8C424C658}"/>
              </a:ext>
            </a:extLst>
          </p:cNvPr>
          <p:cNvSpPr>
            <a:spLocks noGrp="1"/>
          </p:cNvSpPr>
          <p:nvPr/>
        </p:nvSpPr>
        <p:spPr>
          <a:xfrm>
            <a:off x="723900" y="5819775"/>
            <a:ext cx="1074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Every option still needs fencing, authoritative-primary selection, and post-restore pg_auto_failover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190676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9">
            <a:extLst>
              <a:ext uri="{FF2B5EF4-FFF2-40B4-BE49-F238E27FC236}">
                <a16:creationId xmlns:a16="http://schemas.microsoft.com/office/drawing/2014/main" id="{41F560DB-EE64-4BE9-A3DA-6EBB86A8CCD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1076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A common proof plan makes the options comparable</a:t>
            </a:r>
          </a:p>
        </p:txBody>
      </p:sp>
      <p:sp>
        <p:nvSpPr>
          <p:cNvPr id="2" name="title-rule-9">
            <a:extLst>
              <a:ext uri="{FF2B5EF4-FFF2-40B4-BE49-F238E27FC236}">
                <a16:creationId xmlns:a16="http://schemas.microsoft.com/office/drawing/2014/main" id="{431D509A-24D9-44F6-8780-AA6B0553EBE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1905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3" name="page-9">
            <a:extLst>
              <a:ext uri="{FF2B5EF4-FFF2-40B4-BE49-F238E27FC236}">
                <a16:creationId xmlns:a16="http://schemas.microsoft.com/office/drawing/2014/main" id="{A1A46F94-FD88-42AD-8BFF-F6F0429D876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s9-line">
            <a:extLst>
              <a:ext uri="{FF2B5EF4-FFF2-40B4-BE49-F238E27FC236}">
                <a16:creationId xmlns:a16="http://schemas.microsoft.com/office/drawing/2014/main" id="{D783DFAA-3BD7-430B-86E9-D6D731457201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9144000" cy="28575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5" name="s9-dot-0">
            <a:extLst>
              <a:ext uri="{FF2B5EF4-FFF2-40B4-BE49-F238E27FC236}">
                <a16:creationId xmlns:a16="http://schemas.microsoft.com/office/drawing/2014/main" id="{DDBBFF01-DACB-4951-AD4F-9910782A56EA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09550" cy="209550"/>
          </a:xfrm>
          <a:prstGeom prst="ellipse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6" name="s9-num-0">
            <a:extLst>
              <a:ext uri="{FF2B5EF4-FFF2-40B4-BE49-F238E27FC236}">
                <a16:creationId xmlns:a16="http://schemas.microsoft.com/office/drawing/2014/main" id="{6ADAC8E7-04E8-4D04-989E-4A2C296265DA}"/>
              </a:ext>
            </a:extLst>
          </p:cNvPr>
          <p:cNvSpPr>
            <a:spLocks noGrp="1"/>
          </p:cNvSpPr>
          <p:nvPr/>
        </p:nvSpPr>
        <p:spPr>
          <a:xfrm>
            <a:off x="904875" y="23050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9-title-0">
            <a:extLst>
              <a:ext uri="{FF2B5EF4-FFF2-40B4-BE49-F238E27FC236}">
                <a16:creationId xmlns:a16="http://schemas.microsoft.com/office/drawing/2014/main" id="{463574C4-B1CF-465C-9D30-77DD44413562}"/>
              </a:ext>
            </a:extLst>
          </p:cNvPr>
          <p:cNvSpPr>
            <a:spLocks noGrp="1"/>
          </p:cNvSpPr>
          <p:nvPr/>
        </p:nvSpPr>
        <p:spPr>
          <a:xfrm>
            <a:off x="904875" y="3543300"/>
            <a:ext cx="2143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8" name="s9-body-0">
            <a:extLst>
              <a:ext uri="{FF2B5EF4-FFF2-40B4-BE49-F238E27FC236}">
                <a16:creationId xmlns:a16="http://schemas.microsoft.com/office/drawing/2014/main" id="{D56880EF-8B5D-4775-9AD3-CD296E39C0E5}"/>
              </a:ext>
            </a:extLst>
          </p:cNvPr>
          <p:cNvSpPr>
            <a:spLocks noGrp="1"/>
          </p:cNvSpPr>
          <p:nvPr/>
        </p:nvSpPr>
        <p:spPr>
          <a:xfrm>
            <a:off x="904875" y="4057650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Vendor support, ownership, retention and security</a:t>
            </a:r>
          </a:p>
        </p:txBody>
      </p:sp>
      <p:sp>
        <p:nvSpPr>
          <p:cNvPr id="9" name="s9-dot-1">
            <a:extLst>
              <a:ext uri="{FF2B5EF4-FFF2-40B4-BE49-F238E27FC236}">
                <a16:creationId xmlns:a16="http://schemas.microsoft.com/office/drawing/2014/main" id="{61A527A1-BA80-4F46-A2E0-E9A30FC4235E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209550" cy="209550"/>
          </a:xfrm>
          <a:prstGeom prst="ellipse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10" name="s9-num-1">
            <a:extLst>
              <a:ext uri="{FF2B5EF4-FFF2-40B4-BE49-F238E27FC236}">
                <a16:creationId xmlns:a16="http://schemas.microsoft.com/office/drawing/2014/main" id="{715944FC-E009-44DC-A6A0-555AB009E66F}"/>
              </a:ext>
            </a:extLst>
          </p:cNvPr>
          <p:cNvSpPr>
            <a:spLocks noGrp="1"/>
          </p:cNvSpPr>
          <p:nvPr/>
        </p:nvSpPr>
        <p:spPr>
          <a:xfrm>
            <a:off x="3762375" y="23050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9-title-1">
            <a:extLst>
              <a:ext uri="{FF2B5EF4-FFF2-40B4-BE49-F238E27FC236}">
                <a16:creationId xmlns:a16="http://schemas.microsoft.com/office/drawing/2014/main" id="{6FD77E19-1AEA-418A-9785-21A11521757E}"/>
              </a:ext>
            </a:extLst>
          </p:cNvPr>
          <p:cNvSpPr>
            <a:spLocks noGrp="1"/>
          </p:cNvSpPr>
          <p:nvPr/>
        </p:nvSpPr>
        <p:spPr>
          <a:xfrm>
            <a:off x="3762375" y="3543300"/>
            <a:ext cx="2143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12" name="s9-body-1">
            <a:extLst>
              <a:ext uri="{FF2B5EF4-FFF2-40B4-BE49-F238E27FC236}">
                <a16:creationId xmlns:a16="http://schemas.microsoft.com/office/drawing/2014/main" id="{0840739D-5DD6-45F8-A592-92B1FA195913}"/>
              </a:ext>
            </a:extLst>
          </p:cNvPr>
          <p:cNvSpPr>
            <a:spLocks noGrp="1"/>
          </p:cNvSpPr>
          <p:nvPr/>
        </p:nvSpPr>
        <p:spPr>
          <a:xfrm>
            <a:off x="3762375" y="4057650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Base backup plus WAL under normal workload</a:t>
            </a:r>
          </a:p>
        </p:txBody>
      </p:sp>
      <p:sp>
        <p:nvSpPr>
          <p:cNvPr id="13" name="s9-dot-2">
            <a:extLst>
              <a:ext uri="{FF2B5EF4-FFF2-40B4-BE49-F238E27FC236}">
                <a16:creationId xmlns:a16="http://schemas.microsoft.com/office/drawing/2014/main" id="{E0E7B2E3-2460-473F-A630-FD8A6313D55C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209550" cy="209550"/>
          </a:xfrm>
          <a:prstGeom prst="ellipse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14" name="s9-num-2">
            <a:extLst>
              <a:ext uri="{FF2B5EF4-FFF2-40B4-BE49-F238E27FC236}">
                <a16:creationId xmlns:a16="http://schemas.microsoft.com/office/drawing/2014/main" id="{86E27900-8588-45EF-8915-A0D4849C0A82}"/>
              </a:ext>
            </a:extLst>
          </p:cNvPr>
          <p:cNvSpPr>
            <a:spLocks noGrp="1"/>
          </p:cNvSpPr>
          <p:nvPr/>
        </p:nvSpPr>
        <p:spPr>
          <a:xfrm>
            <a:off x="6619875" y="23050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9-title-2">
            <a:extLst>
              <a:ext uri="{FF2B5EF4-FFF2-40B4-BE49-F238E27FC236}">
                <a16:creationId xmlns:a16="http://schemas.microsoft.com/office/drawing/2014/main" id="{C8685D28-2457-4DD7-8D94-18BE8EBC6BA9}"/>
              </a:ext>
            </a:extLst>
          </p:cNvPr>
          <p:cNvSpPr>
            <a:spLocks noGrp="1"/>
          </p:cNvSpPr>
          <p:nvPr/>
        </p:nvSpPr>
        <p:spPr>
          <a:xfrm>
            <a:off x="6619875" y="3543300"/>
            <a:ext cx="2143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Fail over</a:t>
            </a:r>
          </a:p>
        </p:txBody>
      </p:sp>
      <p:sp>
        <p:nvSpPr>
          <p:cNvPr id="16" name="s9-body-2">
            <a:extLst>
              <a:ext uri="{FF2B5EF4-FFF2-40B4-BE49-F238E27FC236}">
                <a16:creationId xmlns:a16="http://schemas.microsoft.com/office/drawing/2014/main" id="{B0F386B7-0D2E-407D-944B-5E5F9F69DB14}"/>
              </a:ext>
            </a:extLst>
          </p:cNvPr>
          <p:cNvSpPr>
            <a:spLocks noGrp="1"/>
          </p:cNvSpPr>
          <p:nvPr/>
        </p:nvSpPr>
        <p:spPr>
          <a:xfrm>
            <a:off x="6619875" y="4057650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Switch primary and prove protection follows safely</a:t>
            </a:r>
          </a:p>
        </p:txBody>
      </p:sp>
      <p:sp>
        <p:nvSpPr>
          <p:cNvPr id="17" name="s9-dot-3">
            <a:extLst>
              <a:ext uri="{FF2B5EF4-FFF2-40B4-BE49-F238E27FC236}">
                <a16:creationId xmlns:a16="http://schemas.microsoft.com/office/drawing/2014/main" id="{3538E4FC-766D-4679-9CEA-7F2F8D0E3056}"/>
              </a:ext>
            </a:extLst>
          </p:cNvPr>
          <p:cNvSpPr>
            <a:spLocks noGrp="1"/>
          </p:cNvSpPr>
          <p:nvPr/>
        </p:nvSpPr>
        <p:spPr>
          <a:xfrm>
            <a:off x="9429750" y="3048000"/>
            <a:ext cx="209550" cy="2095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s9-num-3">
            <a:extLst>
              <a:ext uri="{FF2B5EF4-FFF2-40B4-BE49-F238E27FC236}">
                <a16:creationId xmlns:a16="http://schemas.microsoft.com/office/drawing/2014/main" id="{B924042D-B2B0-48AA-B5B0-D177DFA62AB9}"/>
              </a:ext>
            </a:extLst>
          </p:cNvPr>
          <p:cNvSpPr>
            <a:spLocks noGrp="1"/>
          </p:cNvSpPr>
          <p:nvPr/>
        </p:nvSpPr>
        <p:spPr>
          <a:xfrm>
            <a:off x="9477375" y="23050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s9-title-3">
            <a:extLst>
              <a:ext uri="{FF2B5EF4-FFF2-40B4-BE49-F238E27FC236}">
                <a16:creationId xmlns:a16="http://schemas.microsoft.com/office/drawing/2014/main" id="{711D5E34-E155-41CF-830D-C1AE63087686}"/>
              </a:ext>
            </a:extLst>
          </p:cNvPr>
          <p:cNvSpPr>
            <a:spLocks noGrp="1"/>
          </p:cNvSpPr>
          <p:nvPr/>
        </p:nvSpPr>
        <p:spPr>
          <a:xfrm>
            <a:off x="9477375" y="3543300"/>
            <a:ext cx="2143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20" name="s9-body-3">
            <a:extLst>
              <a:ext uri="{FF2B5EF4-FFF2-40B4-BE49-F238E27FC236}">
                <a16:creationId xmlns:a16="http://schemas.microsoft.com/office/drawing/2014/main" id="{765AB43E-7643-432A-8F80-5881D13A7518}"/>
              </a:ext>
            </a:extLst>
          </p:cNvPr>
          <p:cNvSpPr>
            <a:spLocks noGrp="1"/>
          </p:cNvSpPr>
          <p:nvPr/>
        </p:nvSpPr>
        <p:spPr>
          <a:xfrm>
            <a:off x="9477375" y="4057650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Isolated PITR, application validation and measurement</a:t>
            </a:r>
          </a:p>
        </p:txBody>
      </p:sp>
      <p:sp>
        <p:nvSpPr>
          <p:cNvPr id="21" name="s9-evidence">
            <a:extLst>
              <a:ext uri="{FF2B5EF4-FFF2-40B4-BE49-F238E27FC236}">
                <a16:creationId xmlns:a16="http://schemas.microsoft.com/office/drawing/2014/main" id="{43AD87FD-1560-4809-A4E4-E759078DF6F7}"/>
              </a:ext>
            </a:extLst>
          </p:cNvPr>
          <p:cNvSpPr>
            <a:spLocks noGrp="1"/>
          </p:cNvSpPr>
          <p:nvPr/>
        </p:nvSpPr>
        <p:spPr>
          <a:xfrm>
            <a:off x="533400" y="5486400"/>
            <a:ext cx="11125200" cy="647700"/>
          </a:xfrm>
          <a:prstGeom prst="rect">
            <a:avLst/>
          </a:prstGeom>
          <a:solidFill>
            <a:srgbClr val="0B1320"/>
          </a:solidFill>
          <a:ln w="0">
            <a:noFill/>
            <a:prstDash val="solid"/>
          </a:ln>
        </p:spPr>
      </p:sp>
      <p:sp>
        <p:nvSpPr>
          <p:cNvPr id="22" name="s9-evidence-text">
            <a:extLst>
              <a:ext uri="{FF2B5EF4-FFF2-40B4-BE49-F238E27FC236}">
                <a16:creationId xmlns:a16="http://schemas.microsoft.com/office/drawing/2014/main" id="{CD3F06FD-B2E0-4064-A9EE-0FD69BE4BC98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backup impact, achieved RPO, technical restore time, application validation time, effort and exceptions.</a:t>
            </a:r>
          </a:p>
        </p:txBody>
      </p:sp>
    </p:spTree>
    <p:extLst>
      <p:ext uri="{BB962C8B-B14F-4D97-AF65-F5344CB8AC3E}">
        <p14:creationId xmlns:p14="http://schemas.microsoft.com/office/powerpoint/2010/main" val="10270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-10">
            <a:extLst>
              <a:ext uri="{FF2B5EF4-FFF2-40B4-BE49-F238E27FC236}">
                <a16:creationId xmlns:a16="http://schemas.microsoft.com/office/drawing/2014/main" id="{6BD2D1CE-BAAF-4654-8930-790C6B50131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 GATE</a:t>
            </a:r>
          </a:p>
        </p:txBody>
      </p:sp>
      <p:sp>
        <p:nvSpPr>
          <p:cNvPr id="2" name="s10-title">
            <a:extLst>
              <a:ext uri="{FF2B5EF4-FFF2-40B4-BE49-F238E27FC236}">
                <a16:creationId xmlns:a16="http://schemas.microsoft.com/office/drawing/2014/main" id="{B2A20945-D9A8-4B75-9458-BA16172C7330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990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Choose after evidence closes six questions</a:t>
            </a:r>
          </a:p>
        </p:txBody>
      </p:sp>
      <p:sp>
        <p:nvSpPr>
          <p:cNvPr id="3" name="s10-check-0">
            <a:extLst>
              <a:ext uri="{FF2B5EF4-FFF2-40B4-BE49-F238E27FC236}">
                <a16:creationId xmlns:a16="http://schemas.microsoft.com/office/drawing/2014/main" id="{74DF2484-2BEC-4ABD-9AD5-7044F1F0C10C}"/>
              </a:ext>
            </a:extLst>
          </p:cNvPr>
          <p:cNvSpPr>
            <a:spLocks noGrp="1"/>
          </p:cNvSpPr>
          <p:nvPr/>
        </p:nvSpPr>
        <p:spPr>
          <a:xfrm>
            <a:off x="533400" y="24193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4" name="s10-q-0">
            <a:extLst>
              <a:ext uri="{FF2B5EF4-FFF2-40B4-BE49-F238E27FC236}">
                <a16:creationId xmlns:a16="http://schemas.microsoft.com/office/drawing/2014/main" id="{ACFC7918-4E26-4C14-AC26-2FE3A8729C64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Does the exact solution support PostgreSQL 18 and Ubuntu 24.04?</a:t>
            </a:r>
          </a:p>
        </p:txBody>
      </p:sp>
      <p:sp>
        <p:nvSpPr>
          <p:cNvPr id="5" name="s10-check-1">
            <a:extLst>
              <a:ext uri="{FF2B5EF4-FFF2-40B4-BE49-F238E27FC236}">
                <a16:creationId xmlns:a16="http://schemas.microsoft.com/office/drawing/2014/main" id="{5E5142C2-373B-4166-AABA-6B177A27B097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6" name="s10-q-1">
            <a:extLst>
              <a:ext uri="{FF2B5EF4-FFF2-40B4-BE49-F238E27FC236}">
                <a16:creationId xmlns:a16="http://schemas.microsoft.com/office/drawing/2014/main" id="{C16E5F01-8AD9-46BE-8536-6C86AAE0F30C}"/>
              </a:ext>
            </a:extLst>
          </p:cNvPr>
          <p:cNvSpPr>
            <a:spLocks noGrp="1"/>
          </p:cNvSpPr>
          <p:nvPr/>
        </p:nvSpPr>
        <p:spPr>
          <a:xfrm>
            <a:off x="933450" y="32766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Does protection follow pg_auto_failover role changes without ambiguity?</a:t>
            </a:r>
          </a:p>
        </p:txBody>
      </p:sp>
      <p:sp>
        <p:nvSpPr>
          <p:cNvPr id="7" name="s10-check-2">
            <a:extLst>
              <a:ext uri="{FF2B5EF4-FFF2-40B4-BE49-F238E27FC236}">
                <a16:creationId xmlns:a16="http://schemas.microsoft.com/office/drawing/2014/main" id="{A877CDD8-B54D-4D00-AC29-B847CFAAE855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8" name="s10-q-2">
            <a:extLst>
              <a:ext uri="{FF2B5EF4-FFF2-40B4-BE49-F238E27FC236}">
                <a16:creationId xmlns:a16="http://schemas.microsoft.com/office/drawing/2014/main" id="{5FD5E436-4148-4B4B-BD37-E3110CA67295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Can the monitor be recovered without reviving stale authority?</a:t>
            </a:r>
          </a:p>
        </p:txBody>
      </p:sp>
      <p:sp>
        <p:nvSpPr>
          <p:cNvPr id="9" name="s10-check-3">
            <a:extLst>
              <a:ext uri="{FF2B5EF4-FFF2-40B4-BE49-F238E27FC236}">
                <a16:creationId xmlns:a16="http://schemas.microsoft.com/office/drawing/2014/main" id="{813DADC3-E2D6-4897-95A9-DD14822AD0FD}"/>
              </a:ext>
            </a:extLst>
          </p:cNvPr>
          <p:cNvSpPr>
            <a:spLocks noGrp="1"/>
          </p:cNvSpPr>
          <p:nvPr/>
        </p:nvSpPr>
        <p:spPr>
          <a:xfrm>
            <a:off x="6191250" y="24193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0" name="s10-q-3">
            <a:extLst>
              <a:ext uri="{FF2B5EF4-FFF2-40B4-BE49-F238E27FC236}">
                <a16:creationId xmlns:a16="http://schemas.microsoft.com/office/drawing/2014/main" id="{6E993210-83A6-4F13-9296-44F40F0F1011}"/>
              </a:ext>
            </a:extLst>
          </p:cNvPr>
          <p:cNvSpPr>
            <a:spLocks noGrp="1"/>
          </p:cNvSpPr>
          <p:nvPr/>
        </p:nvSpPr>
        <p:spPr>
          <a:xfrm>
            <a:off x="6591300" y="24003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Are base backups and the complete WAL/timeline chain protected off-host?</a:t>
            </a:r>
          </a:p>
        </p:txBody>
      </p:sp>
      <p:sp>
        <p:nvSpPr>
          <p:cNvPr id="11" name="s10-check-4">
            <a:extLst>
              <a:ext uri="{FF2B5EF4-FFF2-40B4-BE49-F238E27FC236}">
                <a16:creationId xmlns:a16="http://schemas.microsoft.com/office/drawing/2014/main" id="{EDE23631-FC45-47C2-8367-B5CD8888432E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2" name="s10-q-4">
            <a:extLst>
              <a:ext uri="{FF2B5EF4-FFF2-40B4-BE49-F238E27FC236}">
                <a16:creationId xmlns:a16="http://schemas.microsoft.com/office/drawing/2014/main" id="{AD8A91B0-236A-44FA-8A8B-79CEEE2DDDB7}"/>
              </a:ext>
            </a:extLst>
          </p:cNvPr>
          <p:cNvSpPr>
            <a:spLocks noGrp="1"/>
          </p:cNvSpPr>
          <p:nvPr/>
        </p:nvSpPr>
        <p:spPr>
          <a:xfrm>
            <a:off x="6591300" y="32766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Can teams execute the recovery safely with named ownership and fencing?</a:t>
            </a:r>
          </a:p>
        </p:txBody>
      </p:sp>
      <p:sp>
        <p:nvSpPr>
          <p:cNvPr id="13" name="s10-check-5">
            <a:extLst>
              <a:ext uri="{FF2B5EF4-FFF2-40B4-BE49-F238E27FC236}">
                <a16:creationId xmlns:a16="http://schemas.microsoft.com/office/drawing/2014/main" id="{78516CA7-AD43-416B-BE63-4CA65F200C69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4" name="s10-q-5">
            <a:extLst>
              <a:ext uri="{FF2B5EF4-FFF2-40B4-BE49-F238E27FC236}">
                <a16:creationId xmlns:a16="http://schemas.microsoft.com/office/drawing/2014/main" id="{84E310C4-6B27-4E02-A52F-FC1114FAB0DC}"/>
              </a:ext>
            </a:extLst>
          </p:cNvPr>
          <p:cNvSpPr>
            <a:spLocks noGrp="1"/>
          </p:cNvSpPr>
          <p:nvPr/>
        </p:nvSpPr>
        <p:spPr>
          <a:xfrm>
            <a:off x="6591300" y="41529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13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0"/>
                </a:solidFill>
                <a:latin typeface="Arial"/>
                <a:ea typeface="Arial"/>
                <a:cs typeface="Arial"/>
              </a:rPr>
              <a:t>Has an isolated restore measured achievable RPO and RTO?</a:t>
            </a:r>
          </a:p>
        </p:txBody>
      </p:sp>
      <p:sp>
        <p:nvSpPr>
          <p:cNvPr id="15" name="s10-close">
            <a:extLst>
              <a:ext uri="{FF2B5EF4-FFF2-40B4-BE49-F238E27FC236}">
                <a16:creationId xmlns:a16="http://schemas.microsoft.com/office/drawing/2014/main" id="{6BAC8F40-BDE7-4D7F-8155-B5723FCD1FCE}"/>
              </a:ext>
            </a:extLst>
          </p:cNvPr>
          <p:cNvSpPr>
            <a:spLocks noGrp="1"/>
          </p:cNvSpPr>
          <p:nvPr/>
        </p:nvSpPr>
        <p:spPr>
          <a:xfrm>
            <a:off x="533400" y="5467350"/>
            <a:ext cx="11125200" cy="6477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s10-close-text">
            <a:extLst>
              <a:ext uri="{FF2B5EF4-FFF2-40B4-BE49-F238E27FC236}">
                <a16:creationId xmlns:a16="http://schemas.microsoft.com/office/drawing/2014/main" id="{7D2C7F92-D2E7-4177-87D9-90FBF404A8E5}"/>
              </a:ext>
            </a:extLst>
          </p:cNvPr>
          <p:cNvSpPr>
            <a:spLocks noGrp="1"/>
          </p:cNvSpPr>
          <p:nvPr/>
        </p:nvSpPr>
        <p:spPr>
          <a:xfrm>
            <a:off x="781050" y="5619750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decision: authorize a common UAT proof</a:t>
            </a:r>
          </a:p>
        </p:txBody>
      </p:sp>
      <p:sp>
        <p:nvSpPr>
          <p:cNvPr id="17" name="s10-page">
            <a:extLst>
              <a:ext uri="{FF2B5EF4-FFF2-40B4-BE49-F238E27FC236}">
                <a16:creationId xmlns:a16="http://schemas.microsoft.com/office/drawing/2014/main" id="{B501EC90-8D6C-4DA9-A184-0B7D0C69096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41730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1541</Words>
  <Application>Microsoft Office PowerPoint</Application>
  <DocSecurity>0</DocSecurity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Kavit Munshi</cp:lastModifiedBy>
  <cp:revision>1</cp:revision>
  <dcterms:created xsi:type="dcterms:W3CDTF">2026-08-17T16:35:26Z</dcterms:created>
  <dcterms:modified xsi:type="dcterms:W3CDTF">2026-08-17T16:44:08Z</dcterms:modified>
</cp:coreProperties>
</file>